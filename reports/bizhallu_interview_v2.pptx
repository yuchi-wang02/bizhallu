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9d6c3cdb15d4148" /><Relationship Type="http://schemas.openxmlformats.org/officeDocument/2006/relationships/extended-properties" Target="/docProps/app.xml" Id="R31c6e17775794e82" /><Relationship Type="http://schemas.openxmlformats.org/officeDocument/2006/relationships/officeDocument" Target="/ppt/presentation.xml" Id="R993c5ec8818146a9" /></Relationships>
</file>

<file path=ppt/presentation.xml><?xml version="1.0" encoding="utf-8"?>
<p:presentation xmlns:p="http://schemas.openxmlformats.org/presentationml/2006/main">
  <p:sldMasterIdLst>
    <p:sldMasterId xmlns:r="http://schemas.openxmlformats.org/officeDocument/2006/relationships" id="2147483648" r:id="R7ee7a3f10a8b4d06"/>
  </p:sldMasterIdLst>
  <p:notesMasterIdLst>
    <p:notesMasterId xmlns:r="http://schemas.openxmlformats.org/officeDocument/2006/relationships" r:id="R1a82c0bf82d84ea2"/>
  </p:notesMasterIdLst>
  <p:sldIdLst>
    <p:sldId xmlns:r="http://schemas.openxmlformats.org/officeDocument/2006/relationships" id="256" r:id="R8b75c3ef38a240a4"/>
    <p:sldId xmlns:r="http://schemas.openxmlformats.org/officeDocument/2006/relationships" id="257" r:id="R6f3c7b40ab824ea1"/>
    <p:sldId xmlns:r="http://schemas.openxmlformats.org/officeDocument/2006/relationships" id="258" r:id="R84a6e14a05e842b8"/>
    <p:sldId xmlns:r="http://schemas.openxmlformats.org/officeDocument/2006/relationships" id="259" r:id="Rbbc5cab810804e3a"/>
    <p:sldId xmlns:r="http://schemas.openxmlformats.org/officeDocument/2006/relationships" id="260" r:id="Rcedb28063bd74d25"/>
    <p:sldId xmlns:r="http://schemas.openxmlformats.org/officeDocument/2006/relationships" id="261" r:id="Rc1e513e74ae6406c"/>
    <p:sldId xmlns:r="http://schemas.openxmlformats.org/officeDocument/2006/relationships" id="262" r:id="Rc51bbf7aed944012"/>
    <p:sldId xmlns:r="http://schemas.openxmlformats.org/officeDocument/2006/relationships" id="263" r:id="Rf91cfdac3f9a4668"/>
    <p:sldId xmlns:r="http://schemas.openxmlformats.org/officeDocument/2006/relationships" id="264" r:id="Rc996d8630af047ea"/>
    <p:sldId xmlns:r="http://schemas.openxmlformats.org/officeDocument/2006/relationships" id="265" r:id="Rfffaf57d60f04c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3ce9a86c424a12" /><Relationship Type="http://schemas.openxmlformats.org/officeDocument/2006/relationships/slideMaster" Target="/ppt/slideMasters/slideMaster1.xml" Id="R7ee7a3f10a8b4d06" /><Relationship Type="http://schemas.openxmlformats.org/officeDocument/2006/relationships/notesMaster" Target="/ppt/notesMasters/notesMaster1.xml" Id="R1a82c0bf82d84ea2" /><Relationship Type="http://schemas.openxmlformats.org/officeDocument/2006/relationships/presProps" Target="/ppt/presProps.xml" Id="R538630bffe484d16" /><Relationship Type="http://schemas.openxmlformats.org/officeDocument/2006/relationships/tableStyles" Target="/ppt/tableStyles.xml" Id="R2fe4187086e44f86" /><Relationship Type="http://schemas.openxmlformats.org/officeDocument/2006/relationships/slide" Target="/ppt/slides/slide1.xml" Id="R8b75c3ef38a240a4" /><Relationship Type="http://schemas.openxmlformats.org/officeDocument/2006/relationships/slide" Target="/ppt/slides/slide2.xml" Id="R6f3c7b40ab824ea1" /><Relationship Type="http://schemas.openxmlformats.org/officeDocument/2006/relationships/slide" Target="/ppt/slides/slide3.xml" Id="R84a6e14a05e842b8" /><Relationship Type="http://schemas.openxmlformats.org/officeDocument/2006/relationships/slide" Target="/ppt/slides/slide4.xml" Id="Rbbc5cab810804e3a" /><Relationship Type="http://schemas.openxmlformats.org/officeDocument/2006/relationships/slide" Target="/ppt/slides/slide5.xml" Id="Rcedb28063bd74d25" /><Relationship Type="http://schemas.openxmlformats.org/officeDocument/2006/relationships/slide" Target="/ppt/slides/slide6.xml" Id="Rc1e513e74ae6406c" /><Relationship Type="http://schemas.openxmlformats.org/officeDocument/2006/relationships/slide" Target="/ppt/slides/slide7.xml" Id="Rc51bbf7aed944012" /><Relationship Type="http://schemas.openxmlformats.org/officeDocument/2006/relationships/slide" Target="/ppt/slides/slide8.xml" Id="Rf91cfdac3f9a4668" /><Relationship Type="http://schemas.openxmlformats.org/officeDocument/2006/relationships/slide" Target="/ppt/slides/slide9.xml" Id="Rc996d8630af047ea" /><Relationship Type="http://schemas.openxmlformats.org/officeDocument/2006/relationships/slide" Target="/ppt/slides/slide10.xml" Id="Rfffaf57d60f04c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696deed11741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bd3d30d7fa4274" /><Relationship Type="http://schemas.openxmlformats.org/officeDocument/2006/relationships/notesMaster" Target="/ppt/notesMasters/notesMaster1.xml" Id="R5e15d5276bb140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327565a4ec4a38" /><Relationship Type="http://schemas.openxmlformats.org/officeDocument/2006/relationships/notesMaster" Target="/ppt/notesMasters/notesMaster1.xml" Id="R7c5291ad6a9e4c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e28adf19bf4388" /><Relationship Type="http://schemas.openxmlformats.org/officeDocument/2006/relationships/notesMaster" Target="/ppt/notesMasters/notesMaster1.xml" Id="R02fce1932cec45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76e81d98e34f31" /><Relationship Type="http://schemas.openxmlformats.org/officeDocument/2006/relationships/notesMaster" Target="/ppt/notesMasters/notesMaster1.xml" Id="R5d9a2a04b60642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49f57987694ac1" /><Relationship Type="http://schemas.openxmlformats.org/officeDocument/2006/relationships/notesMaster" Target="/ppt/notesMasters/notesMaster1.xml" Id="R0ef804431da349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8397e6b1de4872" /><Relationship Type="http://schemas.openxmlformats.org/officeDocument/2006/relationships/notesMaster" Target="/ppt/notesMasters/notesMaster1.xml" Id="Re56433ec82a944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a3853e24d04a5c" /><Relationship Type="http://schemas.openxmlformats.org/officeDocument/2006/relationships/notesMaster" Target="/ppt/notesMasters/notesMaster1.xml" Id="R403b8e0f278d4a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b5ce81fad64c06" /><Relationship Type="http://schemas.openxmlformats.org/officeDocument/2006/relationships/notesMaster" Target="/ppt/notesMasters/notesMaster1.xml" Id="R2e325f5d797c42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c01974078240a6" /><Relationship Type="http://schemas.openxmlformats.org/officeDocument/2006/relationships/notesMaster" Target="/ppt/notesMasters/notesMaster1.xml" Id="Rb639f16f892a4d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5c4701d5814eac" /><Relationship Type="http://schemas.openxmlformats.org/officeDocument/2006/relationships/notesMaster" Target="/ppt/notesMasters/notesMaster1.xml" Id="Rf24ab73dfab143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BizHallu studies a practical reporting problem: when an AI writes business analysis, can we trace its claims back to the evidence? I directed the project with AI-assisted implementation and review. My focus is on the accounting and operational decisions behind the numbers, alongside the model evaluation.</a:t>
            </a:r>
          </a:p>
          <a:p xmlns:a="http://schemas.openxmlformats.org/drawingml/2006/main">
            <a:r>
              <a:t/>
            </a:r>
          </a:p>
          <a:p xmlns:a="http://schemas.openxmlformats.org/drawingml/2006/main">
            <a:r>
              <a:t>Sources:</a:t>
            </a:r>
          </a:p>
          <a:p xmlns:a="http://schemas.openxmlformats.org/drawingml/2006/main">
            <a:r>
              <a:t>https://github.com/Yuchi-Wang02/bizhallu/blob/main/reports/bizhallu_demo_v2_data.json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a:p xmlns:a="http://schemas.openxmlformats.org/drawingml/2006/main">
            <a:r>
              <a:t>Speaking time: 20 seconds planned, not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April 2011. The answer places WOODEN UNION JACK BUNTING third with revenue of 4,173.18 pounds. We can locate that exact product and amount in the source table. But six shown products have larger values. The correct third product is PAPER CHAIN KIT EMPIRE at 6,619.51 pounds. A check that only asks whether the amount appears in the table would miss the ranking error.</a:t>
            </a:r>
          </a:p>
          <a:p xmlns:a="http://schemas.openxmlformats.org/drawingml/2006/main">
            <a:r>
              <a:t/>
            </a:r>
          </a:p>
          <a:p xmlns:a="http://schemas.openxmlformats.org/drawingml/2006/main">
            <a:r>
              <a:t>Sources:</a:t>
            </a:r>
          </a:p>
          <a:p xmlns:a="http://schemas.openxmlformats.org/drawingml/2006/main">
            <a:r>
              <a:t>https://github.com/Yuchi-Wang02/bizhallu/blob/main/reports/bizhallu_demo_v2_data.json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a:p xmlns:a="http://schemas.openxmlformats.org/drawingml/2006/main">
            <a:r>
              <a:t>Speaking time: 35 seconds planned, not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September answer repeats the pattern across all three listed products. Their stated ranks are one, two and three, while their ranks in the eight shown evidence rows are three, eight and two. Every product still matches its own amount. I use these cases to distinguish row fidelity from relationship correctness. They are selected historical examples, not evidence of a general error rate or an automatic verifier.</a:t>
            </a:r>
          </a:p>
          <a:p xmlns:a="http://schemas.openxmlformats.org/drawingml/2006/main">
            <a:r>
              <a:t/>
            </a:r>
          </a:p>
          <a:p xmlns:a="http://schemas.openxmlformats.org/drawingml/2006/main">
            <a:r>
              <a:t>Sources:</a:t>
            </a:r>
          </a:p>
          <a:p xmlns:a="http://schemas.openxmlformats.org/drawingml/2006/main">
            <a:r>
              <a:t>https://github.com/Yuchi-Wang02/bizhallu/blob/main/reports/bizhallu_demo_v2_data.json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a:p xmlns:a="http://schemas.openxmlformats.org/drawingml/2006/main">
            <a:r>
              <a:t>Speaking time: 30 seconds planned, not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 definitions matter before we judge an answer. Negative transaction value is not the same as confirmed physical returns, because fee and adjustment records can contribute. Merchandise scope also depends on a documented stock-code rule. I preserve the historical calculation and provide a versioned definition amendment instead of silently rewriting old gold answers. Without cost, inventory or delivery data, I cannot claim profit analysis or inventory optimization.</a:t>
            </a:r>
          </a:p>
          <a:p xmlns:a="http://schemas.openxmlformats.org/drawingml/2006/main">
            <a:r>
              <a:t/>
            </a:r>
          </a:p>
          <a:p xmlns:a="http://schemas.openxmlformats.org/drawingml/2006/main">
            <a:r>
              <a:t>Sources:</a:t>
            </a:r>
          </a:p>
          <a:p xmlns:a="http://schemas.openxmlformats.org/drawingml/2006/main">
            <a:r>
              <a:t>https://github.com/Yuchi-Wang02/bizhallu/blob/main/configs/business_metric_contract_v1_1.json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a:p xmlns:a="http://schemas.openxmlformats.org/drawingml/2006/main">
            <a:r>
              <a:t>Speaking time: 30 seconds planned, not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pipeline turns retail transactions into deterministic questions and evidence tables, then captures local Qwen answers and token traces. B1 retains the original 205 provisional spans across 35 development and test answers. A separate B2 sensitivity adds nine assistant-provisional atoms for the omitted dev answer, without changing the 103 old test spans. Fifteen selected original spans received additional assistant review. None of this is independent human annotation or end-to-end claim extraction.</a:t>
            </a:r>
          </a:p>
          <a:p xmlns:a="http://schemas.openxmlformats.org/drawingml/2006/main">
            <a:r>
              <a:t/>
            </a:r>
          </a:p>
          <a:p xmlns:a="http://schemas.openxmlformats.org/drawingml/2006/main">
            <a:r>
              <a:t>Sources:</a:t>
            </a:r>
          </a:p>
          <a:p xmlns:a="http://schemas.openxmlformats.org/drawingml/2006/main">
            <a:r>
              <a:t>https://github.com/Yuchi-Wang02/bizhallu/blob/main/reports/bizhallu_statistics_v2_report.json</a:t>
            </a:r>
          </a:p>
          <a:p xmlns:a="http://schemas.openxmlformats.org/drawingml/2006/main">
            <a:r>
              <a:t>https://github.com/Yuchi-Wang02/bizhallu/blob/main/reports/bizhallu_demo_v2_data.json</a:t>
            </a:r>
          </a:p>
          <a:p xmlns:a="http://schemas.openxmlformats.org/drawingml/2006/main">
            <a:r>
              <a:t>https://github.com/Yuchi-Wang02/bizhallu/blob/main/reports/bizhallu_q0048_dev_sensitivity_report.json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a:p xmlns:a="http://schemas.openxmlformats.org/drawingml/2006/main">
            <a:r>
              <a:t>Speaking time: 35 seconds planned, not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preserves B1's original test results. Entropy F1 0.779; flag-every-span F1 0.744. Paired F1 difference +0.0355; exploratory 95% interval [-0.0356, 0.1047]. That interval is conditional on fixed thresholds and is not a B2 interval. B2 adds one previously omitted dev answer with nine provisional correct facts. Refitting on dev lowers entropy F1 to 0.752 on the same old test, with five fewer false alarms and six more missed errors. Margin is unchanged in this check. We report sensitivity, not a new winner or fresh confirmation.</a:t>
            </a:r>
          </a:p>
          <a:p xmlns:a="http://schemas.openxmlformats.org/drawingml/2006/main">
            <a:r>
              <a:t/>
            </a:r>
          </a:p>
          <a:p xmlns:a="http://schemas.openxmlformats.org/drawingml/2006/main">
            <a:r>
              <a:t>Sources:</a:t>
            </a:r>
          </a:p>
          <a:p xmlns:a="http://schemas.openxmlformats.org/drawingml/2006/main">
            <a:r>
              <a:t>https://github.com/Yuchi-Wang02/bizhallu/blob/main/reports/bizhallu_statistics_v2_report.json</a:t>
            </a:r>
          </a:p>
          <a:p xmlns:a="http://schemas.openxmlformats.org/drawingml/2006/main">
            <a:r>
              <a:t>https://github.com/Yuchi-Wang02/bizhallu/blob/main/reports/bizhallu_q0048_dev_sensitivity_report.json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a:p xmlns:a="http://schemas.openxmlformats.org/drawingml/2006/main">
            <a:r>
              <a:t>Speaking time: 45 seconds planned, not measured.</a:t>
            </a:r>
          </a:p>
          <a:p xmlns:a="http://schemas.openxmlformats.org/drawingml/2006/main">
            <a:r>
              <a:t>Chart workbook stores six-decimal presentation values; source analysis retains full saved-trace precision. Labels show three decimals.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methodological correction is especially important. A list marker is generated before the product and amount that follow it. Low uncertainty on that marker cannot establish that the completed relationship was confidently wrong. The saved raw teacher-forced logits also differ from generation probabilities after sampling transformations. Some nominally different features are mathematical aliases: same-step energy gap is token negative log probability. These distinctions prevent an unfair comparison with a checker that sees the whole answer.</a:t>
            </a:r>
          </a:p>
          <a:p xmlns:a="http://schemas.openxmlformats.org/drawingml/2006/main">
            <a:r>
              <a:t/>
            </a:r>
          </a:p>
          <a:p xmlns:a="http://schemas.openxmlformats.org/drawingml/2006/main">
            <a:r>
              <a:t>Sources:</a:t>
            </a:r>
          </a:p>
          <a:p xmlns:a="http://schemas.openxmlformats.org/drawingml/2006/main">
            <a:r>
              <a:t>https://github.com/Yuchi-Wang02/bizhallu/blob/main/reports/bizhallu_statistics_v2_report.json</a:t>
            </a:r>
          </a:p>
          <a:p xmlns:a="http://schemas.openxmlformats.org/drawingml/2006/main">
            <a:r>
              <a:t>https://github.com/Yuchi-Wang02/bizhallu/blob/main/reports/bizhallu_demo_v2_data.json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a:p xmlns:a="http://schemas.openxmlformats.org/drawingml/2006/main">
            <a:r>
              <a:t>Speaking time: 30 seconds planned, not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results describe a limited retrospective study. The annotation queue depended on generated-answer status, development and test share contexts, and independent human agreement has not been measured. The six curated relationships clarify particular cases; they do not replace the 205 labels. No result here establishes performance on larger models, unseen periods, automatically extracted claims or production business reports.</a:t>
            </a:r>
          </a:p>
          <a:p xmlns:a="http://schemas.openxmlformats.org/drawingml/2006/main">
            <a:r>
              <a:t/>
            </a:r>
          </a:p>
          <a:p xmlns:a="http://schemas.openxmlformats.org/drawingml/2006/main">
            <a:r>
              <a:t>Sources:</a:t>
            </a:r>
          </a:p>
          <a:p xmlns:a="http://schemas.openxmlformats.org/drawingml/2006/main">
            <a:r>
              <a:t>https://github.com/Yuchi-Wang02/bizhallu/blob/main/reports/bizhallu_statistics_v2_report.json</a:t>
            </a:r>
          </a:p>
          <a:p xmlns:a="http://schemas.openxmlformats.org/drawingml/2006/main">
            <a:r>
              <a:t>https://github.com/Yuchi-Wang02/bizhallu/blob/main/configs/relation_annotation_v2.json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a:p xmlns:a="http://schemas.openxmlformats.org/drawingml/2006/main">
            <a:r>
              <a:t>Speaking time: 25 seconds planned, not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an analyst role, I would emphasize metric definitions, reproducible calculations and explaining what evidence supports. The potential use is reviewing generated reports before a business decision, not a claim that I have deployed a control or measured savings. AI assistance is part of the provenance. My next learning step is to explain and modify the analysis directly, supported by a small SQL and BI companion project.</a:t>
            </a:r>
          </a:p>
          <a:p xmlns:a="http://schemas.openxmlformats.org/drawingml/2006/main">
            <a:r>
              <a:t/>
            </a:r>
          </a:p>
          <a:p xmlns:a="http://schemas.openxmlformats.org/drawingml/2006/main">
            <a:r>
              <a:t>Sources:</a:t>
            </a:r>
          </a:p>
          <a:p xmlns:a="http://schemas.openxmlformats.org/drawingml/2006/main">
            <a:r>
              <a:t>https://github.com/Yuchi-Wang02/bizhallu/blob/main/configs/business_metric_contract_v1_1.json</a:t>
            </a:r>
          </a:p>
          <a:p xmlns:a="http://schemas.openxmlformats.org/drawingml/2006/main">
            <a:r>
              <a:t>https://github.com/Yuchi-Wang02/bizhallu/blob/main/reports/bizhallu_statistics_v2_report.json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a:p xmlns:a="http://schemas.openxmlformats.org/drawingml/2006/main">
            <a:r>
              <a:t>Speaking time: 25 seconds planned, not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professor, my concrete request is feedback on the unit of annotation and comparison design. I would begin with a top-three verifier that uses the question, answer, metric contract and evidence, without evaluation labels or gold answers as inputs. Semantic consistency, attention methods and a faithful adjacent-step energy implementation remain comparison options. The new confirmation study stays sealed until the prediction and evaluation process is ready.</a:t>
            </a:r>
          </a:p>
          <a:p xmlns:a="http://schemas.openxmlformats.org/drawingml/2006/main">
            <a:r>
              <a:t/>
            </a:r>
          </a:p>
          <a:p xmlns:a="http://schemas.openxmlformats.org/drawingml/2006/main">
            <a:r>
              <a:t>Sources:</a:t>
            </a:r>
          </a:p>
          <a:p xmlns:a="http://schemas.openxmlformats.org/drawingml/2006/main">
            <a:r>
              <a:t>https://github.com/Yuchi-Wang02/bizhallu/blob/main/configs/relation_annotation_v2.json</a:t>
            </a:r>
          </a:p>
          <a:p xmlns:a="http://schemas.openxmlformats.org/drawingml/2006/main">
            <a:r>
              <a:t>https://github.com/Yuchi-Wang02/bizhallu/blob/main/reports/bizhallu_statistics_v2_report.json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a:p xmlns:a="http://schemas.openxmlformats.org/drawingml/2006/main">
            <a:r>
              <a:t>Speaking time: 25 seconds planned, not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170e2dbb6f4e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3a5dd9caf64214" /><Relationship Type="http://schemas.openxmlformats.org/officeDocument/2006/relationships/slideLayout" Target="/ppt/slideLayouts/slideLayout1.xml" Id="Ra828c075aac745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28c075aac745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6c0ab6b2974b5c" /><Relationship Type="http://schemas.openxmlformats.org/officeDocument/2006/relationships/notesSlide" Target="/ppt/notesSlides/notesSlide1.xml" Id="R3f984f2de59c4d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c66bce781640dd" /><Relationship Type="http://schemas.openxmlformats.org/officeDocument/2006/relationships/notesSlide" Target="/ppt/notesSlides/notesSlide2.xml" Id="Rb0f311c79dc940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270a100ca24aa7" /><Relationship Type="http://schemas.openxmlformats.org/officeDocument/2006/relationships/notesSlide" Target="/ppt/notesSlides/notesSlide3.xml" Id="R41c84641866e48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a291e31d0e4b8f" /><Relationship Type="http://schemas.openxmlformats.org/officeDocument/2006/relationships/notesSlide" Target="/ppt/notesSlides/notesSlide4.xml" Id="Rc44c995dc3384f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18e3de3af04537" /><Relationship Type="http://schemas.openxmlformats.org/officeDocument/2006/relationships/notesSlide" Target="/ppt/notesSlides/notesSlide5.xml" Id="R8c5a98e7ed0c45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64171c6e7c4deb" /><Relationship Type="http://schemas.openxmlformats.org/officeDocument/2006/relationships/chart" Target="/ppt/slides/charts/chart1.xml" Id="R218d0d0ec101461d" /><Relationship Type="http://schemas.openxmlformats.org/officeDocument/2006/relationships/notesSlide" Target="/ppt/notesSlides/notesSlide6.xml" Id="Rccf2aa915b3f4d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5d2fd12aa24e37" /><Relationship Type="http://schemas.openxmlformats.org/officeDocument/2006/relationships/notesSlide" Target="/ppt/notesSlides/notesSlide7.xml" Id="R6d472d397ec34b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0044c658ef42c6" /><Relationship Type="http://schemas.openxmlformats.org/officeDocument/2006/relationships/notesSlide" Target="/ppt/notesSlides/notesSlide8.xml" Id="R44982014ae504e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405c96353394b82" /><Relationship Type="http://schemas.openxmlformats.org/officeDocument/2006/relationships/notesSlide" Target="/ppt/notesSlides/notesSlide9.xml" Id="Rd9e4cf87183d40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93b4e7c0fe9469f" /><Relationship Type="http://schemas.openxmlformats.org/officeDocument/2006/relationships/notesSlide" Target="/ppt/notesSlides/notesSlide10.xml" Id="R92599cd2394544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F1</c:v>
          </c:tx>
          <c:spPr>
            <a:solidFill xmlns:a="http://schemas.openxmlformats.org/drawingml/2006/main">
              <a:srgbClr val="18765E"/>
            </a:solidFill>
          </c:spPr>
          <c:dLbls>
            <c:dLbl>
              <c:idx val="0"/>
              <c:tx>
                <c:rich>
                  <a:bodyPr xmlns:a="http://schemas.openxmlformats.org/drawingml/2006/main"/>
                  <a:lstStyle xmlns:a="http://schemas.openxmlformats.org/drawingml/2006/main"/>
                  <a:p xmlns:a="http://schemas.openxmlformats.org/drawingml/2006/main">
                    <a:r>
                      <a:rPr sz="1800" b="1">
                        <a:latin typeface="Arial"/>
                        <a:ea typeface="Arial"/>
                        <a:cs typeface="Arial"/>
                      </a:rPr>
                      <a:t>0.779</a:t>
                    </a:r>
                  </a:p>
                </c:rich>
              </c:tx>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b="1">
                        <a:latin typeface="Arial"/>
                        <a:ea typeface="Arial"/>
                        <a:cs typeface="Arial"/>
                      </a:rPr>
                      <a:t>0.744</a:t>
                    </a:r>
                  </a:p>
                </c:rich>
              </c:tx>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00" b="1">
                        <a:latin typeface="Arial"/>
                        <a:ea typeface="Arial"/>
                        <a:cs typeface="Arial"/>
                      </a:rPr>
                      <a:t>0.752</a:t>
                    </a:r>
                  </a:p>
                </c:rich>
              </c:tx>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0"/>
              <c:showCatName val="0"/>
              <c:showSerName val="0"/>
              <c:showPercent val="0"/>
              <c:showBubbleSize val="0"/>
            </c:dLbl>
          </c:dLbls>
          <c:cat>
            <c:strRef>
              <c:f>'Chart Data'!$A$2:$A$4</c:f>
              <c:strCache>
                <c:ptCount val="3"/>
                <c:pt idx="0">
                  <c:v>Token entropy</c:v>
                </c:pt>
                <c:pt idx="1">
                  <c:v>Flag every span</c:v>
                </c:pt>
                <c:pt idx="2">
                  <c:v>Top-2 margin</c:v>
                </c:pt>
              </c:strCache>
            </c:strRef>
          </c:cat>
          <c:val>
            <c:numRef>
              <c:f>'Chart Data'!$B$2:$B$4</c:f>
              <c:numCache>
                <c:formatCode>0.000</c:formatCode>
                <c:ptCount val="3"/>
                <c:pt idx="0">
                  <c:v>0.779412</c:v>
                </c:pt>
                <c:pt idx="1">
                  <c:v>0.743902</c:v>
                </c:pt>
                <c:pt idx="2">
                  <c:v>0.752294</c:v>
                </c:pt>
              </c:numCache>
            </c:numRef>
          </c:val>
        </c:ser>
        <c:dLbls>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BDB340-BB17-4FDF-8BBE-43D5338BEF7B}"/>
              </a:ext>
            </a:extLst>
          </p:cNvPr>
          <p:cNvSpPr>
            <a:spLocks xmlns:a="http://schemas.openxmlformats.org/drawingml/2006/main" noGrp="1"/>
          </p:cNvSpPr>
          <p:nvPr/>
        </p:nvSpPr>
        <p:spPr>
          <a:xfrm xmlns:a="http://schemas.openxmlformats.org/drawingml/2006/main">
            <a:off x="609600" y="1571625"/>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02124"/>
                </a:solidFill>
                <a:latin typeface="Arial"/>
                <a:ea typeface="Arial"/>
                <a:cs typeface="Arial"/>
              </a:defRPr>
            </a:pPr>
            <a:r>
              <a:rPr sz="5400" b="1">
                <a:solidFill>
                  <a:srgbClr val="202124"/>
                </a:solidFill>
                <a:latin typeface="Arial"/>
                <a:ea typeface="Arial"/>
                <a:cs typeface="Arial"/>
              </a:rPr>
              <a:t>BizHallu</a:t>
            </a:r>
          </a:p>
        </p:txBody>
      </p:sp>
      <p:sp>
        <p:nvSpPr>
          <p:cNvPr id="2" name="">
            <a:extLst xmlns:a="http://schemas.openxmlformats.org/drawingml/2006/main">
              <a:ext uri="{FF2B5EF4-FFF2-40B4-BE49-F238E27FC236}">
                <a16:creationId xmlns:a16="http://schemas.microsoft.com/office/drawing/2014/main" id="{B32408CA-A998-4284-9F80-FAF4ADE43949}"/>
              </a:ext>
            </a:extLst>
          </p:cNvPr>
          <p:cNvSpPr>
            <a:spLocks xmlns:a="http://schemas.openxmlformats.org/drawingml/2006/main" noGrp="1"/>
          </p:cNvSpPr>
          <p:nvPr/>
        </p:nvSpPr>
        <p:spPr>
          <a:xfrm xmlns:a="http://schemas.openxmlformats.org/drawingml/2006/main">
            <a:off x="628650" y="27908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765E"/>
                </a:solidFill>
                <a:latin typeface="Arial"/>
                <a:ea typeface="Arial"/>
                <a:cs typeface="Arial"/>
              </a:defRPr>
            </a:pPr>
            <a:r>
              <a:rPr sz="2850" b="0">
                <a:solidFill>
                  <a:srgbClr val="18765E"/>
                </a:solidFill>
                <a:latin typeface="Arial"/>
                <a:ea typeface="Arial"/>
                <a:cs typeface="Arial"/>
              </a:rPr>
              <a:t>Business analytics with evidence checks for AI-generated analysis</a:t>
            </a:r>
          </a:p>
        </p:txBody>
      </p:sp>
      <p:sp>
        <p:nvSpPr>
          <p:cNvPr id="3" name="">
            <a:extLst xmlns:a="http://schemas.openxmlformats.org/drawingml/2006/main">
              <a:ext uri="{FF2B5EF4-FFF2-40B4-BE49-F238E27FC236}">
                <a16:creationId xmlns:a16="http://schemas.microsoft.com/office/drawing/2014/main" id="{834E8E83-BA0A-455F-AFB1-7CD53ACA7C0E}"/>
              </a:ext>
            </a:extLst>
          </p:cNvPr>
          <p:cNvSpPr>
            <a:spLocks xmlns:a="http://schemas.openxmlformats.org/drawingml/2006/main" noGrp="1"/>
          </p:cNvSpPr>
          <p:nvPr/>
        </p:nvSpPr>
        <p:spPr>
          <a:xfrm xmlns:a="http://schemas.openxmlformats.org/drawingml/2006/main">
            <a:off x="628650" y="4238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16B"/>
                </a:solidFill>
                <a:latin typeface="Arial"/>
                <a:ea typeface="Arial"/>
                <a:cs typeface="Arial"/>
              </a:defRPr>
            </a:pPr>
            <a:r>
              <a:rPr sz="1800" b="0">
                <a:solidFill>
                  <a:srgbClr val="52616B"/>
                </a:solidFill>
                <a:latin typeface="Arial"/>
                <a:ea typeface="Arial"/>
                <a:cs typeface="Arial"/>
              </a:rPr>
              <a:t>Yuchi Wang | Accounting and supply management | JHU Carey BAAI</a:t>
            </a:r>
          </a:p>
        </p:txBody>
      </p:sp>
      <p:sp>
        <p:nvSpPr>
          <p:cNvPr id="4" name="">
            <a:extLst xmlns:a="http://schemas.openxmlformats.org/drawingml/2006/main">
              <a:ext uri="{FF2B5EF4-FFF2-40B4-BE49-F238E27FC236}">
                <a16:creationId xmlns:a16="http://schemas.microsoft.com/office/drawing/2014/main" id="{58CFAC01-39DF-47E7-8993-F17BE124E8FF}"/>
              </a:ext>
            </a:extLst>
          </p:cNvPr>
          <p:cNvSpPr>
            <a:spLocks xmlns:a="http://schemas.openxmlformats.org/drawingml/2006/main" noGrp="1"/>
          </p:cNvSpPr>
          <p:nvPr/>
        </p:nvSpPr>
        <p:spPr>
          <a:xfrm xmlns:a="http://schemas.openxmlformats.org/drawingml/2006/main">
            <a:off x="628650" y="502920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Exploratory portfolio study</a:t>
            </a:r>
          </a:p>
        </p:txBody>
      </p:sp>
      <p:sp>
        <p:nvSpPr>
          <p:cNvPr id="5" name="">
            <a:extLst xmlns:a="http://schemas.openxmlformats.org/drawingml/2006/main">
              <a:ext uri="{FF2B5EF4-FFF2-40B4-BE49-F238E27FC236}">
                <a16:creationId xmlns:a16="http://schemas.microsoft.com/office/drawing/2014/main" id="{AC44F115-7106-493B-8A84-8817183AE101}"/>
              </a:ext>
            </a:extLst>
          </p:cNvPr>
          <p:cNvSpPr>
            <a:spLocks xmlns:a="http://schemas.openxmlformats.org/drawingml/2006/main" noGrp="1"/>
          </p:cNvSpPr>
          <p:nvPr/>
        </p:nvSpPr>
        <p:spPr>
          <a:xfrm xmlns:a="http://schemas.openxmlformats.org/drawingml/2006/main">
            <a:off x="609600" y="652462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01 / 10  |  BizHallu  |  Exploratory study</a:t>
            </a:r>
          </a:p>
        </p:txBody>
      </p:sp>
    </p:spTree>
    <p:extLst>
      <p:ext uri="{BB962C8B-B14F-4D97-AF65-F5344CB8AC3E}">
        <p14:creationId xmlns:p14="http://schemas.microsoft.com/office/powerpoint/2010/main" val="6191777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6B1886-B2CB-4943-B20F-7770A8AD495F}"/>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April product ranking</a:t>
            </a:r>
          </a:p>
        </p:txBody>
      </p:sp>
      <p:sp>
        <p:nvSpPr>
          <p:cNvPr id="2" name="">
            <a:extLst xmlns:a="http://schemas.openxmlformats.org/drawingml/2006/main">
              <a:ext uri="{FF2B5EF4-FFF2-40B4-BE49-F238E27FC236}">
                <a16:creationId xmlns:a16="http://schemas.microsoft.com/office/drawing/2014/main" id="{CC4E7157-856F-4BC5-90CD-E4A2ABE9F909}"/>
              </a:ext>
            </a:extLst>
          </p:cNvPr>
          <p:cNvSpPr>
            <a:spLocks xmlns:a="http://schemas.openxmlformats.org/drawingml/2006/main" noGrp="1"/>
          </p:cNvSpPr>
          <p:nvPr/>
        </p:nvSpPr>
        <p:spPr>
          <a:xfrm xmlns:a="http://schemas.openxmlformats.org/drawingml/2006/main">
            <a:off x="609600" y="1428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A13238"/>
                </a:solidFill>
                <a:latin typeface="Arial"/>
                <a:ea typeface="Arial"/>
                <a:cs typeface="Arial"/>
              </a:defRPr>
            </a:pPr>
            <a:r>
              <a:rPr sz="1950" b="1">
                <a:solidFill>
                  <a:srgbClr val="A13238"/>
                </a:solidFill>
                <a:latin typeface="Arial"/>
                <a:ea typeface="Arial"/>
                <a:cs typeface="Arial"/>
              </a:rPr>
              <a:t>Qwen: rank 3 | WOODEN UNION JACK BUNTING | GBP 4,173.18</a:t>
            </a:r>
          </a:p>
        </p:txBody>
      </p:sp>
      <p:graphicFrame>
        <p:nvGraphicFramePr>
          <p:cNvPr id="8" name=""/>
          <p:cNvGraphicFramePr/>
          <p:nvPr/>
        </p:nvGraphicFramePr>
        <p:xfrm>
          <a:off xmlns:a="http://schemas.openxmlformats.org/drawingml/2006/main" x="609600" y="1962150"/>
          <a:ext xmlns:a="http://schemas.openxmlformats.org/drawingml/2006/main" cx="10972800" cy="3771900"/>
        </p:xfrm>
        <a:graphic xmlns:a="http://schemas.openxmlformats.org/drawingml/2006/main">
          <a:graphicData uri="http://schemas.openxmlformats.org/drawingml/2006/table">
            <a:tbl>
              <a:tblPr/>
              <a:tblGrid>
                <a:gridCol w="809625"/>
                <a:gridCol w="7477125"/>
                <a:gridCol w="2686050"/>
              </a:tblGrid>
              <a:tr h="419100">
                <a:tc>
                  <a:txBody>
                    <a:bodyPr>
                      <a:noAutofit/>
                    </a:bodyPr>
                    <a:lstStyle/>
                    <a:p>
                      <a:r>
                        <a:rPr sz="1725" b="1">
                          <a:solidFill>
                            <a:srgbClr val="202124"/>
                          </a:solidFill>
                          <a:latin typeface="Arial"/>
                          <a:ea typeface="Arial"/>
                          <a:cs typeface="Arial"/>
                        </a:rPr>
                        <a:t>Rank</a:t>
                      </a:r>
                    </a:p>
                  </a:txBody>
                  <a:tcPr marL="91440" marR="91440" marT="45720" marB="45720">
                    <a:solidFill>
                      <a:srgbClr val="E8EFF0"/>
                    </a:solidFill>
                  </a:tcPr>
                </a:tc>
                <a:tc>
                  <a:txBody>
                    <a:bodyPr>
                      <a:noAutofit/>
                    </a:bodyPr>
                    <a:lstStyle/>
                    <a:p>
                      <a:r>
                        <a:rPr sz="1725" b="1">
                          <a:solidFill>
                            <a:srgbClr val="202124"/>
                          </a:solidFill>
                          <a:latin typeface="Arial"/>
                          <a:ea typeface="Arial"/>
                          <a:cs typeface="Arial"/>
                        </a:rPr>
                        <a:t>Product</a:t>
                      </a:r>
                    </a:p>
                  </a:txBody>
                  <a:tcPr marL="91440" marR="91440" marT="45720" marB="45720">
                    <a:solidFill>
                      <a:srgbClr val="E8EFF0"/>
                    </a:solidFill>
                  </a:tcPr>
                </a:tc>
                <a:tc>
                  <a:txBody>
                    <a:bodyPr>
                      <a:noAutofit/>
                    </a:bodyPr>
                    <a:lstStyle/>
                    <a:p>
                      <a:r>
                        <a:rPr sz="1725" b="1">
                          <a:solidFill>
                            <a:srgbClr val="202124"/>
                          </a:solidFill>
                          <a:latin typeface="Arial"/>
                          <a:ea typeface="Arial"/>
                          <a:cs typeface="Arial"/>
                        </a:rPr>
                        <a:t>GBP net value</a:t>
                      </a:r>
                    </a:p>
                  </a:txBody>
                  <a:tcPr marL="91440" marR="91440" marT="45720" marB="45720">
                    <a:solidFill>
                      <a:srgbClr val="E8EFF0"/>
                    </a:solidFill>
                  </a:tcPr>
                </a:tc>
              </a:tr>
              <a:tr h="419100">
                <a:tc>
                  <a:txBody>
                    <a:bodyPr>
                      <a:noAutofit/>
                    </a:bodyPr>
                    <a:lstStyle/>
                    <a:p>
                      <a:r>
                        <a:rPr sz="1725" b="0">
                          <a:solidFill>
                            <a:srgbClr val="202124"/>
                          </a:solidFill>
                          <a:latin typeface="Arial"/>
                          <a:ea typeface="Arial"/>
                          <a:cs typeface="Arial"/>
                        </a:rPr>
                        <a:t>1</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REGENCY CAKESTAND 3 TIER</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14,280.90</a:t>
                      </a:r>
                    </a:p>
                  </a:txBody>
                  <a:tcPr marL="91440" marR="91440" marT="45720" marB="45720">
                    <a:solidFill>
                      <a:srgbClr val="FFFFFF"/>
                    </a:solidFill>
                  </a:tcPr>
                </a:tc>
              </a:tr>
              <a:tr h="419100">
                <a:tc>
                  <a:txBody>
                    <a:bodyPr>
                      <a:noAutofit/>
                    </a:bodyPr>
                    <a:lstStyle/>
                    <a:p>
                      <a:r>
                        <a:rPr sz="1725" b="0">
                          <a:solidFill>
                            <a:srgbClr val="202124"/>
                          </a:solidFill>
                          <a:latin typeface="Arial"/>
                          <a:ea typeface="Arial"/>
                          <a:cs typeface="Arial"/>
                        </a:rPr>
                        <a:t>2</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PARTY BUNTING</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10,323.87</a:t>
                      </a:r>
                    </a:p>
                  </a:txBody>
                  <a:tcPr marL="91440" marR="91440" marT="45720" marB="45720">
                    <a:solidFill>
                      <a:srgbClr val="FFFFFF"/>
                    </a:solidFill>
                  </a:tcPr>
                </a:tc>
              </a:tr>
              <a:tr h="419100">
                <a:tc>
                  <a:txBody>
                    <a:bodyPr>
                      <a:noAutofit/>
                    </a:bodyPr>
                    <a:lstStyle/>
                    <a:p>
                      <a:r>
                        <a:rPr sz="1725" b="0">
                          <a:solidFill>
                            <a:srgbClr val="202124"/>
                          </a:solidFill>
                          <a:latin typeface="Arial"/>
                          <a:ea typeface="Arial"/>
                          <a:cs typeface="Arial"/>
                        </a:rPr>
                        <a:t>3</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PAPER CHAIN KIT EMPIRE</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6,619.51</a:t>
                      </a:r>
                    </a:p>
                  </a:txBody>
                  <a:tcPr marL="91440" marR="91440" marT="45720" marB="45720">
                    <a:solidFill>
                      <a:srgbClr val="FFFFFF"/>
                    </a:solidFill>
                  </a:tcPr>
                </a:tc>
              </a:tr>
              <a:tr h="419100">
                <a:tc>
                  <a:txBody>
                    <a:bodyPr>
                      <a:noAutofit/>
                    </a:bodyPr>
                    <a:lstStyle/>
                    <a:p>
                      <a:r>
                        <a:rPr sz="1725" b="0">
                          <a:solidFill>
                            <a:srgbClr val="202124"/>
                          </a:solidFill>
                          <a:latin typeface="Arial"/>
                          <a:ea typeface="Arial"/>
                          <a:cs typeface="Arial"/>
                        </a:rPr>
                        <a:t>4</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WHITE HANGING HEART T-LIGHT HOLDER</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5,078.59</a:t>
                      </a:r>
                    </a:p>
                  </a:txBody>
                  <a:tcPr marL="91440" marR="91440" marT="45720" marB="45720">
                    <a:solidFill>
                      <a:srgbClr val="FFFFFF"/>
                    </a:solidFill>
                  </a:tcPr>
                </a:tc>
              </a:tr>
              <a:tr h="419100">
                <a:tc>
                  <a:txBody>
                    <a:bodyPr>
                      <a:noAutofit/>
                    </a:bodyPr>
                    <a:lstStyle/>
                    <a:p>
                      <a:r>
                        <a:rPr sz="1725" b="0">
                          <a:solidFill>
                            <a:srgbClr val="202124"/>
                          </a:solidFill>
                          <a:latin typeface="Arial"/>
                          <a:ea typeface="Arial"/>
                          <a:cs typeface="Arial"/>
                        </a:rPr>
                        <a:t>5</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JUMBO BAG RED RETROSPOT</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4,870.92</a:t>
                      </a:r>
                    </a:p>
                  </a:txBody>
                  <a:tcPr marL="91440" marR="91440" marT="45720" marB="45720">
                    <a:solidFill>
                      <a:srgbClr val="FFFFFF"/>
                    </a:solidFill>
                  </a:tcPr>
                </a:tc>
              </a:tr>
              <a:tr h="419100">
                <a:tc>
                  <a:txBody>
                    <a:bodyPr>
                      <a:noAutofit/>
                    </a:bodyPr>
                    <a:lstStyle/>
                    <a:p>
                      <a:r>
                        <a:rPr sz="1725" b="0">
                          <a:solidFill>
                            <a:srgbClr val="202124"/>
                          </a:solidFill>
                          <a:latin typeface="Arial"/>
                          <a:ea typeface="Arial"/>
                          <a:cs typeface="Arial"/>
                        </a:rPr>
                        <a:t>6</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ASSORTED COLOUR BIRD ORNAMENT</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4,174.24</a:t>
                      </a:r>
                    </a:p>
                  </a:txBody>
                  <a:tcPr marL="91440" marR="91440" marT="45720" marB="45720">
                    <a:solidFill>
                      <a:srgbClr val="FFFFFF"/>
                    </a:solidFill>
                  </a:tcPr>
                </a:tc>
              </a:tr>
              <a:tr h="419100">
                <a:tc>
                  <a:txBody>
                    <a:bodyPr>
                      <a:noAutofit/>
                    </a:bodyPr>
                    <a:lstStyle/>
                    <a:p>
                      <a:r>
                        <a:rPr sz="1725" b="0">
                          <a:solidFill>
                            <a:srgbClr val="202124"/>
                          </a:solidFill>
                          <a:latin typeface="Arial"/>
                          <a:ea typeface="Arial"/>
                          <a:cs typeface="Arial"/>
                        </a:rPr>
                        <a:t>7</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WOODEN UNION JACK BUNTING</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4,173.18</a:t>
                      </a:r>
                    </a:p>
                  </a:txBody>
                  <a:tcPr marL="91440" marR="91440" marT="45720" marB="45720">
                    <a:solidFill>
                      <a:srgbClr val="FFFFFF"/>
                    </a:solidFill>
                  </a:tcPr>
                </a:tc>
              </a:tr>
              <a:tr h="419100">
                <a:tc>
                  <a:txBody>
                    <a:bodyPr>
                      <a:noAutofit/>
                    </a:bodyPr>
                    <a:lstStyle/>
                    <a:p>
                      <a:r>
                        <a:rPr sz="1725" b="0">
                          <a:solidFill>
                            <a:srgbClr val="202124"/>
                          </a:solidFill>
                          <a:latin typeface="Arial"/>
                          <a:ea typeface="Arial"/>
                          <a:cs typeface="Arial"/>
                        </a:rPr>
                        <a:t>8</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PAPER BUNTING WHITE LACE</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3,512.24</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C591BDB-E7E6-45AF-A415-A54212FB7AE1}"/>
              </a:ext>
            </a:extLst>
          </p:cNvPr>
          <p:cNvSpPr>
            <a:spLocks xmlns:a="http://schemas.openxmlformats.org/drawingml/2006/main" noGrp="1"/>
          </p:cNvSpPr>
          <p:nvPr/>
        </p:nvSpPr>
        <p:spPr>
          <a:xfrm xmlns:a="http://schemas.openxmlformats.org/drawingml/2006/main">
            <a:off x="609600" y="58293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16B"/>
                </a:solidFill>
                <a:latin typeface="Arial"/>
                <a:ea typeface="Arial"/>
                <a:cs typeface="Arial"/>
              </a:defRPr>
            </a:pPr>
            <a:r>
              <a:rPr sz="1650" b="0">
                <a:solidFill>
                  <a:srgbClr val="52616B"/>
                </a:solidFill>
                <a:latin typeface="Arial"/>
                <a:ea typeface="Arial"/>
                <a:cs typeface="Arial"/>
              </a:rPr>
              <a:t>Display sorted by net value; original prompt order is preserved in the demo.</a:t>
            </a:r>
          </a:p>
          <a:p xmlns:a="http://schemas.openxmlformats.org/drawingml/2006/main">
            <a:pPr>
              <a:defRPr sz="1650" b="0">
                <a:solidFill>
                  <a:srgbClr val="52616B"/>
                </a:solidFill>
                <a:latin typeface="Arial"/>
                <a:ea typeface="Arial"/>
                <a:cs typeface="Arial"/>
              </a:defRPr>
            </a:pPr>
            <a:r>
              <a:rPr sz="1650" b="0">
                <a:solidFill>
                  <a:srgbClr val="52616B"/>
                </a:solidFill>
                <a:latin typeface="Arial"/>
                <a:ea typeface="Arial"/>
                <a:cs typeface="Arial"/>
              </a:rPr>
              <a:t>Product-amount match; actual rank 7, not 3 (eight shown rows).</a:t>
            </a:r>
          </a:p>
        </p:txBody>
      </p:sp>
      <p:sp>
        <p:nvSpPr>
          <p:cNvPr id="5" name="">
            <a:extLst xmlns:a="http://schemas.openxmlformats.org/drawingml/2006/main">
              <a:ext uri="{FF2B5EF4-FFF2-40B4-BE49-F238E27FC236}">
                <a16:creationId xmlns:a16="http://schemas.microsoft.com/office/drawing/2014/main" id="{CF5BC72B-6BBA-4557-A638-BE0601084734}"/>
              </a:ext>
            </a:extLst>
          </p:cNvPr>
          <p:cNvSpPr>
            <a:spLocks xmlns:a="http://schemas.openxmlformats.org/drawingml/2006/main" noGrp="1"/>
          </p:cNvSpPr>
          <p:nvPr/>
        </p:nvSpPr>
        <p:spPr>
          <a:xfrm xmlns:a="http://schemas.openxmlformats.org/drawingml/2006/main">
            <a:off x="609600" y="652462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02 / 10  |  BizHallu  |  Exploratory study</a:t>
            </a:r>
          </a:p>
        </p:txBody>
      </p:sp>
    </p:spTree>
    <p:extLst>
      <p:ext uri="{BB962C8B-B14F-4D97-AF65-F5344CB8AC3E}">
        <p14:creationId xmlns:p14="http://schemas.microsoft.com/office/powerpoint/2010/main" val="12935621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2E6840-6E5B-4BAF-8258-B4EA33A7D210}"/>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September: all three ranks differ</a:t>
            </a:r>
          </a:p>
        </p:txBody>
      </p:sp>
      <p:sp>
        <p:nvSpPr>
          <p:cNvPr id="2" name="">
            <a:extLst xmlns:a="http://schemas.openxmlformats.org/drawingml/2006/main">
              <a:ext uri="{FF2B5EF4-FFF2-40B4-BE49-F238E27FC236}">
                <a16:creationId xmlns:a16="http://schemas.microsoft.com/office/drawing/2014/main" id="{4D79B985-CF02-4698-B933-3FD6B6913441}"/>
              </a:ext>
            </a:extLst>
          </p:cNvPr>
          <p:cNvSpPr>
            <a:spLocks xmlns:a="http://schemas.openxmlformats.org/drawingml/2006/main" noGrp="1"/>
          </p:cNvSpPr>
          <p:nvPr/>
        </p:nvSpPr>
        <p:spPr>
          <a:xfrm xmlns:a="http://schemas.openxmlformats.org/drawingml/2006/main">
            <a:off x="609600" y="1504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Each product-amount pair matches its own row.</a:t>
            </a:r>
          </a:p>
        </p:txBody>
      </p:sp>
      <p:graphicFrame>
        <p:nvGraphicFramePr>
          <p:cNvPr id="8" name=""/>
          <p:cNvGraphicFramePr/>
          <p:nvPr/>
        </p:nvGraphicFramePr>
        <p:xfrm>
          <a:off xmlns:a="http://schemas.openxmlformats.org/drawingml/2006/main" x="609600" y="2305050"/>
          <a:ext xmlns:a="http://schemas.openxmlformats.org/drawingml/2006/main" cx="10972800" cy="2895600"/>
        </p:xfrm>
        <a:graphic xmlns:a="http://schemas.openxmlformats.org/drawingml/2006/main">
          <a:graphicData uri="http://schemas.openxmlformats.org/drawingml/2006/table">
            <a:tbl>
              <a:tblPr/>
              <a:tblGrid>
                <a:gridCol w="5448300"/>
                <a:gridCol w="2095500"/>
                <a:gridCol w="1714500"/>
                <a:gridCol w="1714500"/>
              </a:tblGrid>
              <a:tr h="723900">
                <a:tc>
                  <a:txBody>
                    <a:bodyPr>
                      <a:noAutofit/>
                    </a:bodyPr>
                    <a:lstStyle/>
                    <a:p>
                      <a:r>
                        <a:rPr sz="1725" b="1">
                          <a:solidFill>
                            <a:srgbClr val="202124"/>
                          </a:solidFill>
                          <a:latin typeface="Arial"/>
                          <a:ea typeface="Arial"/>
                          <a:cs typeface="Arial"/>
                        </a:rPr>
                        <a:t>Product</a:t>
                      </a:r>
                    </a:p>
                  </a:txBody>
                  <a:tcPr marL="91440" marR="91440" marT="45720" marB="45720">
                    <a:solidFill>
                      <a:srgbClr val="E8EFF0"/>
                    </a:solidFill>
                  </a:tcPr>
                </a:tc>
                <a:tc>
                  <a:txBody>
                    <a:bodyPr>
                      <a:noAutofit/>
                    </a:bodyPr>
                    <a:lstStyle/>
                    <a:p>
                      <a:r>
                        <a:rPr sz="1725" b="1">
                          <a:solidFill>
                            <a:srgbClr val="202124"/>
                          </a:solidFill>
                          <a:latin typeface="Arial"/>
                          <a:ea typeface="Arial"/>
                          <a:cs typeface="Arial"/>
                        </a:rPr>
                        <a:t>GBP</a:t>
                      </a:r>
                    </a:p>
                  </a:txBody>
                  <a:tcPr marL="91440" marR="91440" marT="45720" marB="45720">
                    <a:solidFill>
                      <a:srgbClr val="E8EFF0"/>
                    </a:solidFill>
                  </a:tcPr>
                </a:tc>
                <a:tc>
                  <a:txBody>
                    <a:bodyPr>
                      <a:noAutofit/>
                    </a:bodyPr>
                    <a:lstStyle/>
                    <a:p>
                      <a:r>
                        <a:rPr sz="1725" b="1">
                          <a:solidFill>
                            <a:srgbClr val="202124"/>
                          </a:solidFill>
                          <a:latin typeface="Arial"/>
                          <a:ea typeface="Arial"/>
                          <a:cs typeface="Arial"/>
                        </a:rPr>
                        <a:t>Stated rank</a:t>
                      </a:r>
                    </a:p>
                  </a:txBody>
                  <a:tcPr marL="91440" marR="91440" marT="45720" marB="45720">
                    <a:solidFill>
                      <a:srgbClr val="E8EFF0"/>
                    </a:solidFill>
                  </a:tcPr>
                </a:tc>
                <a:tc>
                  <a:txBody>
                    <a:bodyPr>
                      <a:noAutofit/>
                    </a:bodyPr>
                    <a:lstStyle/>
                    <a:p>
                      <a:r>
                        <a:rPr sz="1725" b="1">
                          <a:solidFill>
                            <a:srgbClr val="202124"/>
                          </a:solidFill>
                          <a:latin typeface="Arial"/>
                          <a:ea typeface="Arial"/>
                          <a:cs typeface="Arial"/>
                        </a:rPr>
                        <a:t>Evidence rank</a:t>
                      </a:r>
                    </a:p>
                  </a:txBody>
                  <a:tcPr marL="91440" marR="91440" marT="45720" marB="45720">
                    <a:solidFill>
                      <a:srgbClr val="E8EFF0"/>
                    </a:solidFill>
                  </a:tcPr>
                </a:tc>
              </a:tr>
              <a:tr h="723900">
                <a:tc>
                  <a:txBody>
                    <a:bodyPr>
                      <a:noAutofit/>
                    </a:bodyPr>
                    <a:lstStyle/>
                    <a:p>
                      <a:r>
                        <a:rPr sz="1725" b="0">
                          <a:solidFill>
                            <a:srgbClr val="202124"/>
                          </a:solidFill>
                          <a:latin typeface="Arial"/>
                          <a:ea typeface="Arial"/>
                          <a:cs typeface="Arial"/>
                        </a:rPr>
                        <a:t>JUMBO BAG RED RETROSPOT</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8630.45</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1</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3</a:t>
                      </a:r>
                    </a:p>
                  </a:txBody>
                  <a:tcPr marL="91440" marR="91440" marT="45720" marB="45720">
                    <a:solidFill>
                      <a:srgbClr val="FFFFFF"/>
                    </a:solidFill>
                  </a:tcPr>
                </a:tc>
              </a:tr>
              <a:tr h="723900">
                <a:tc>
                  <a:txBody>
                    <a:bodyPr>
                      <a:noAutofit/>
                    </a:bodyPr>
                    <a:lstStyle/>
                    <a:p>
                      <a:r>
                        <a:rPr sz="1725" b="0">
                          <a:solidFill>
                            <a:srgbClr val="202124"/>
                          </a:solidFill>
                          <a:latin typeface="Arial"/>
                          <a:ea typeface="Arial"/>
                          <a:cs typeface="Arial"/>
                        </a:rPr>
                        <a:t>PAPER CHAIN KIT 50'S CHRISTMAS</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5997.25</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2</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8</a:t>
                      </a:r>
                    </a:p>
                  </a:txBody>
                  <a:tcPr marL="91440" marR="91440" marT="45720" marB="45720">
                    <a:solidFill>
                      <a:srgbClr val="FFFFFF"/>
                    </a:solidFill>
                  </a:tcPr>
                </a:tc>
              </a:tr>
              <a:tr h="723900">
                <a:tc>
                  <a:txBody>
                    <a:bodyPr>
                      <a:noAutofit/>
                    </a:bodyPr>
                    <a:lstStyle/>
                    <a:p>
                      <a:r>
                        <a:rPr sz="1725" b="0">
                          <a:solidFill>
                            <a:srgbClr val="202124"/>
                          </a:solidFill>
                          <a:latin typeface="Arial"/>
                          <a:ea typeface="Arial"/>
                          <a:cs typeface="Arial"/>
                        </a:rPr>
                        <a:t>REGENCY CAKESTAND 3 TIER</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9315.03</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3</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2</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0774C3A-FD47-4A8A-9258-B881F2640C26}"/>
              </a:ext>
            </a:extLst>
          </p:cNvPr>
          <p:cNvSpPr>
            <a:spLocks xmlns:a="http://schemas.openxmlformats.org/drawingml/2006/main" noGrp="1"/>
          </p:cNvSpPr>
          <p:nvPr/>
        </p:nvSpPr>
        <p:spPr>
          <a:xfrm xmlns:a="http://schemas.openxmlformats.org/drawingml/2006/main">
            <a:off x="609600" y="56102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Ranking scope: eight rows shown to Qwen. Both examples omit requested stock codes.</a:t>
            </a:r>
          </a:p>
        </p:txBody>
      </p:sp>
      <p:sp>
        <p:nvSpPr>
          <p:cNvPr id="5" name="">
            <a:extLst xmlns:a="http://schemas.openxmlformats.org/drawingml/2006/main">
              <a:ext uri="{FF2B5EF4-FFF2-40B4-BE49-F238E27FC236}">
                <a16:creationId xmlns:a16="http://schemas.microsoft.com/office/drawing/2014/main" id="{E0470CC6-6583-43DB-B054-F9C9F26B99E6}"/>
              </a:ext>
            </a:extLst>
          </p:cNvPr>
          <p:cNvSpPr>
            <a:spLocks xmlns:a="http://schemas.openxmlformats.org/drawingml/2006/main" noGrp="1"/>
          </p:cNvSpPr>
          <p:nvPr/>
        </p:nvSpPr>
        <p:spPr>
          <a:xfrm xmlns:a="http://schemas.openxmlformats.org/drawingml/2006/main">
            <a:off x="609600" y="652462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03 / 10  |  BizHallu  |  Exploratory study</a:t>
            </a:r>
          </a:p>
        </p:txBody>
      </p:sp>
    </p:spTree>
    <p:extLst>
      <p:ext uri="{BB962C8B-B14F-4D97-AF65-F5344CB8AC3E}">
        <p14:creationId xmlns:p14="http://schemas.microsoft.com/office/powerpoint/2010/main" val="5842482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AEBCE5-FCB2-49A8-85F3-52B704887AE2}"/>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Business metric scope</a:t>
            </a:r>
          </a:p>
        </p:txBody>
      </p:sp>
      <p:sp>
        <p:nvSpPr>
          <p:cNvPr id="2" name="">
            <a:extLst xmlns:a="http://schemas.openxmlformats.org/drawingml/2006/main">
              <a:ext uri="{FF2B5EF4-FFF2-40B4-BE49-F238E27FC236}">
                <a16:creationId xmlns:a16="http://schemas.microsoft.com/office/drawing/2014/main" id="{C284E75B-7285-44F9-B77C-C3490295D3F6}"/>
              </a:ext>
            </a:extLst>
          </p:cNvPr>
          <p:cNvSpPr>
            <a:spLocks xmlns:a="http://schemas.openxmlformats.org/drawingml/2006/main" noGrp="1"/>
          </p:cNvSpPr>
          <p:nvPr/>
        </p:nvSpPr>
        <p:spPr>
          <a:xfrm xmlns:a="http://schemas.openxmlformats.org/drawingml/2006/main">
            <a:off x="609600" y="163830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Positive / negative transaction value: sign-based ledger quantities</a:t>
            </a:r>
          </a:p>
        </p:txBody>
      </p:sp>
      <p:sp>
        <p:nvSpPr>
          <p:cNvPr id="3" name="">
            <a:extLst xmlns:a="http://schemas.openxmlformats.org/drawingml/2006/main">
              <a:ext uri="{FF2B5EF4-FFF2-40B4-BE49-F238E27FC236}">
                <a16:creationId xmlns:a16="http://schemas.microsoft.com/office/drawing/2014/main" id="{FC0D9635-A3E0-4F18-ABD8-40787D55E0E1}"/>
              </a:ext>
            </a:extLst>
          </p:cNvPr>
          <p:cNvSpPr>
            <a:spLocks xmlns:a="http://schemas.openxmlformats.org/drawingml/2006/main" noGrp="1"/>
          </p:cNvSpPr>
          <p:nvPr/>
        </p:nvSpPr>
        <p:spPr>
          <a:xfrm xmlns:a="http://schemas.openxmlformats.org/drawingml/2006/main">
            <a:off x="609600" y="297180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Negative value can include fees and adjustments; physical returns are not separately verified.</a:t>
            </a:r>
          </a:p>
        </p:txBody>
      </p:sp>
      <p:sp>
        <p:nvSpPr>
          <p:cNvPr id="4" name="">
            <a:extLst xmlns:a="http://schemas.openxmlformats.org/drawingml/2006/main">
              <a:ext uri="{FF2B5EF4-FFF2-40B4-BE49-F238E27FC236}">
                <a16:creationId xmlns:a16="http://schemas.microsoft.com/office/drawing/2014/main" id="{AC5505AD-9B85-40DE-A22C-C62DD92333A2}"/>
              </a:ext>
            </a:extLst>
          </p:cNvPr>
          <p:cNvSpPr>
            <a:spLocks xmlns:a="http://schemas.openxmlformats.org/drawingml/2006/main" noGrp="1"/>
          </p:cNvSpPr>
          <p:nvPr/>
        </p:nvSpPr>
        <p:spPr>
          <a:xfrm xmlns:a="http://schemas.openxmlformats.org/drawingml/2006/main">
            <a:off x="609600" y="430530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Merchandise scope: stock-code heuristic; historical product grain: code + description</a:t>
            </a:r>
          </a:p>
        </p:txBody>
      </p:sp>
      <p:sp>
        <p:nvSpPr>
          <p:cNvPr id="5" name="">
            <a:extLst xmlns:a="http://schemas.openxmlformats.org/drawingml/2006/main">
              <a:ext uri="{FF2B5EF4-FFF2-40B4-BE49-F238E27FC236}">
                <a16:creationId xmlns:a16="http://schemas.microsoft.com/office/drawing/2014/main" id="{A947A3F2-BAE7-46A2-A5AC-C287B96FF2A9}"/>
              </a:ext>
            </a:extLst>
          </p:cNvPr>
          <p:cNvSpPr>
            <a:spLocks xmlns:a="http://schemas.openxmlformats.org/drawingml/2006/main" noGrp="1"/>
          </p:cNvSpPr>
          <p:nvPr/>
        </p:nvSpPr>
        <p:spPr>
          <a:xfrm xmlns:a="http://schemas.openxmlformats.org/drawingml/2006/main">
            <a:off x="609600" y="652462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04 / 10  |  BizHallu  |  Exploratory study</a:t>
            </a:r>
          </a:p>
        </p:txBody>
      </p:sp>
    </p:spTree>
    <p:extLst>
      <p:ext uri="{BB962C8B-B14F-4D97-AF65-F5344CB8AC3E}">
        <p14:creationId xmlns:p14="http://schemas.microsoft.com/office/powerpoint/2010/main" val="7519586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6950B5-24FB-447B-97D4-AAE775DA6D89}"/>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The historical evaluation pipeline</a:t>
            </a:r>
          </a:p>
        </p:txBody>
      </p:sp>
      <p:sp>
        <p:nvSpPr>
          <p:cNvPr id="2" name="">
            <a:extLst xmlns:a="http://schemas.openxmlformats.org/drawingml/2006/main">
              <a:ext uri="{FF2B5EF4-FFF2-40B4-BE49-F238E27FC236}">
                <a16:creationId xmlns:a16="http://schemas.microsoft.com/office/drawing/2014/main" id="{26B148CA-3913-485C-8BF7-2CB2727D0697}"/>
              </a:ext>
            </a:extLst>
          </p:cNvPr>
          <p:cNvSpPr>
            <a:spLocks xmlns:a="http://schemas.openxmlformats.org/drawingml/2006/main" noGrp="1"/>
          </p:cNvSpPr>
          <p:nvPr/>
        </p:nvSpPr>
        <p:spPr>
          <a:xfrm xmlns:a="http://schemas.openxmlformats.org/drawingml/2006/main">
            <a:off x="609600" y="163830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100 deterministic questions / 7 task types / Qwen3-0.6B</a:t>
            </a:r>
          </a:p>
        </p:txBody>
      </p:sp>
      <p:sp>
        <p:nvSpPr>
          <p:cNvPr id="3" name="">
            <a:extLst xmlns:a="http://schemas.openxmlformats.org/drawingml/2006/main">
              <a:ext uri="{FF2B5EF4-FFF2-40B4-BE49-F238E27FC236}">
                <a16:creationId xmlns:a16="http://schemas.microsoft.com/office/drawing/2014/main" id="{7CE12258-40E8-45C3-95CE-1B8DF2C78F79}"/>
              </a:ext>
            </a:extLst>
          </p:cNvPr>
          <p:cNvSpPr>
            <a:spLocks xmlns:a="http://schemas.openxmlformats.org/drawingml/2006/main" noGrp="1"/>
          </p:cNvSpPr>
          <p:nvPr/>
        </p:nvSpPr>
        <p:spPr>
          <a:xfrm xmlns:a="http://schemas.openxmlformats.org/drawingml/2006/main">
            <a:off x="609600" y="273367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Original B1: 205 provisional spans across 35 dev/test answers</a:t>
            </a:r>
          </a:p>
        </p:txBody>
      </p:sp>
      <p:sp>
        <p:nvSpPr>
          <p:cNvPr id="4" name="">
            <a:extLst xmlns:a="http://schemas.openxmlformats.org/drawingml/2006/main">
              <a:ext uri="{FF2B5EF4-FFF2-40B4-BE49-F238E27FC236}">
                <a16:creationId xmlns:a16="http://schemas.microsoft.com/office/drawing/2014/main" id="{D0BA23A5-D19C-46D6-8836-D39C7BB67894}"/>
              </a:ext>
            </a:extLst>
          </p:cNvPr>
          <p:cNvSpPr>
            <a:spLocks xmlns:a="http://schemas.openxmlformats.org/drawingml/2006/main" noGrp="1"/>
          </p:cNvSpPr>
          <p:nvPr/>
        </p:nvSpPr>
        <p:spPr>
          <a:xfrm xmlns:a="http://schemas.openxmlformats.org/drawingml/2006/main">
            <a:off x="609600" y="382905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103 test spans / all 18 test questions; B2 separately assesses omitted dev q_0048</a:t>
            </a:r>
          </a:p>
        </p:txBody>
      </p:sp>
      <p:sp>
        <p:nvSpPr>
          <p:cNvPr id="5" name="">
            <a:extLst xmlns:a="http://schemas.openxmlformats.org/drawingml/2006/main">
              <a:ext uri="{FF2B5EF4-FFF2-40B4-BE49-F238E27FC236}">
                <a16:creationId xmlns:a16="http://schemas.microsoft.com/office/drawing/2014/main" id="{5F3CCFE6-C51E-4575-825B-9E3992F9A2A4}"/>
              </a:ext>
            </a:extLst>
          </p:cNvPr>
          <p:cNvSpPr>
            <a:spLocks xmlns:a="http://schemas.openxmlformats.org/drawingml/2006/main" noGrp="1"/>
          </p:cNvSpPr>
          <p:nvPr/>
        </p:nvSpPr>
        <p:spPr>
          <a:xfrm xmlns:a="http://schemas.openxmlformats.org/drawingml/2006/main">
            <a:off x="609600" y="492442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Evidence &gt; answer &gt; pre-identified spans &gt; saved token scores &gt; evaluation</a:t>
            </a:r>
          </a:p>
        </p:txBody>
      </p:sp>
      <p:sp>
        <p:nvSpPr>
          <p:cNvPr id="6" name="">
            <a:extLst xmlns:a="http://schemas.openxmlformats.org/drawingml/2006/main">
              <a:ext uri="{FF2B5EF4-FFF2-40B4-BE49-F238E27FC236}">
                <a16:creationId xmlns:a16="http://schemas.microsoft.com/office/drawing/2014/main" id="{AB4216C3-3EA6-4D71-B157-AFFE6B7AAA76}"/>
              </a:ext>
            </a:extLst>
          </p:cNvPr>
          <p:cNvSpPr>
            <a:spLocks xmlns:a="http://schemas.openxmlformats.org/drawingml/2006/main" noGrp="1"/>
          </p:cNvSpPr>
          <p:nvPr/>
        </p:nvSpPr>
        <p:spPr>
          <a:xfrm xmlns:a="http://schemas.openxmlformats.org/drawingml/2006/main">
            <a:off x="609600" y="652462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05 / 10  |  BizHallu  |  Exploratory study</a:t>
            </a:r>
          </a:p>
        </p:txBody>
      </p:sp>
    </p:spTree>
    <p:extLst>
      <p:ext uri="{BB962C8B-B14F-4D97-AF65-F5344CB8AC3E}">
        <p14:creationId xmlns:p14="http://schemas.microsoft.com/office/powerpoint/2010/main" val="6323531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9B9A847-1B06-4AB0-9F3C-855F1784524D}"/>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Historical B1 references and B2 sensitivity</a:t>
            </a:r>
          </a:p>
        </p:txBody>
      </p:sp>
      <p:graphicFrame>
        <p:nvGraphicFramePr>
          <p:cNvPr id="11" name="Chart"/>
          <p:cNvGraphicFramePr/>
          <p:nvPr/>
        </p:nvGraphicFramePr>
        <p:xfrm>
          <a:off xmlns:a="http://schemas.openxmlformats.org/drawingml/2006/main" x="571500" y="1619250"/>
          <a:ext xmlns:a="http://schemas.openxmlformats.org/drawingml/2006/main" cx="6191250" cy="3581400"/>
        </p:xfrm>
        <a:graphic xmlns:a="http://schemas.openxmlformats.org/drawingml/2006/main">
          <a:graphicData uri="http://schemas.openxmlformats.org/drawingml/2006/chart">
            <c:chart xmlns:r="http://schemas.openxmlformats.org/officeDocument/2006/relationships" xmlns:c="http://schemas.openxmlformats.org/drawingml/2006/chart" r:id="R218d0d0ec101461d"/>
          </a:graphicData>
        </a:graphic>
      </p:graphicFrame>
      <p:sp>
        <p:nvSpPr>
          <p:cNvPr id="3" name="">
            <a:extLst xmlns:a="http://schemas.openxmlformats.org/drawingml/2006/main">
              <a:ext uri="{FF2B5EF4-FFF2-40B4-BE49-F238E27FC236}">
                <a16:creationId xmlns:a16="http://schemas.microsoft.com/office/drawing/2014/main" id="{701963F9-BC1E-4E30-BDCD-C8C38A20080A}"/>
              </a:ext>
            </a:extLst>
          </p:cNvPr>
          <p:cNvSpPr>
            <a:spLocks xmlns:a="http://schemas.openxmlformats.org/drawingml/2006/main" noGrp="1"/>
          </p:cNvSpPr>
          <p:nvPr/>
        </p:nvSpPr>
        <p:spPr>
          <a:xfrm xmlns:a="http://schemas.openxmlformats.org/drawingml/2006/main">
            <a:off x="7239000" y="1762125"/>
            <a:ext cx="414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124"/>
                </a:solidFill>
                <a:latin typeface="Arial"/>
                <a:ea typeface="Arial"/>
                <a:cs typeface="Arial"/>
              </a:defRPr>
            </a:pPr>
            <a:r>
              <a:rPr sz="2100" b="1">
                <a:solidFill>
                  <a:srgbClr val="202124"/>
                </a:solidFill>
                <a:latin typeface="Arial"/>
                <a:ea typeface="Arial"/>
                <a:cs typeface="Arial"/>
              </a:rPr>
              <a:t>Entropy - flag every span</a:t>
            </a:r>
          </a:p>
        </p:txBody>
      </p:sp>
      <p:sp>
        <p:nvSpPr>
          <p:cNvPr id="4" name="">
            <a:extLst xmlns:a="http://schemas.openxmlformats.org/drawingml/2006/main">
              <a:ext uri="{FF2B5EF4-FFF2-40B4-BE49-F238E27FC236}">
                <a16:creationId xmlns:a16="http://schemas.microsoft.com/office/drawing/2014/main" id="{1A53AC89-8CA1-4319-9E05-0A561DD3E22B}"/>
              </a:ext>
            </a:extLst>
          </p:cNvPr>
          <p:cNvSpPr>
            <a:spLocks xmlns:a="http://schemas.openxmlformats.org/drawingml/2006/main" noGrp="1"/>
          </p:cNvSpPr>
          <p:nvPr/>
        </p:nvSpPr>
        <p:spPr>
          <a:xfrm xmlns:a="http://schemas.openxmlformats.org/drawingml/2006/main">
            <a:off x="7239000" y="2552700"/>
            <a:ext cx="4143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8765E"/>
                </a:solidFill>
                <a:latin typeface="Arial"/>
                <a:ea typeface="Arial"/>
                <a:cs typeface="Arial"/>
              </a:defRPr>
            </a:pPr>
            <a:r>
              <a:rPr sz="2475" b="1">
                <a:solidFill>
                  <a:srgbClr val="18765E"/>
                </a:solidFill>
                <a:latin typeface="Arial"/>
                <a:ea typeface="Arial"/>
                <a:cs typeface="Arial"/>
              </a:rPr>
              <a:t>0.0355 F1 difference</a:t>
            </a:r>
          </a:p>
        </p:txBody>
      </p:sp>
      <p:sp>
        <p:nvSpPr>
          <p:cNvPr id="5" name="">
            <a:extLst xmlns:a="http://schemas.openxmlformats.org/drawingml/2006/main">
              <a:ext uri="{FF2B5EF4-FFF2-40B4-BE49-F238E27FC236}">
                <a16:creationId xmlns:a16="http://schemas.microsoft.com/office/drawing/2014/main" id="{89D6FF1B-1BE5-48DA-9491-B66B28FE68AF}"/>
              </a:ext>
            </a:extLst>
          </p:cNvPr>
          <p:cNvSpPr>
            <a:spLocks xmlns:a="http://schemas.openxmlformats.org/drawingml/2006/main" noGrp="1"/>
          </p:cNvSpPr>
          <p:nvPr/>
        </p:nvSpPr>
        <p:spPr>
          <a:xfrm xmlns:a="http://schemas.openxmlformats.org/drawingml/2006/main">
            <a:off x="7239000" y="3333750"/>
            <a:ext cx="4143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13238"/>
                </a:solidFill>
                <a:latin typeface="Arial"/>
                <a:ea typeface="Arial"/>
                <a:cs typeface="Arial"/>
              </a:defRPr>
            </a:pPr>
            <a:r>
              <a:rPr sz="2025" b="0">
                <a:solidFill>
                  <a:srgbClr val="A13238"/>
                </a:solidFill>
                <a:latin typeface="Arial"/>
                <a:ea typeface="Arial"/>
                <a:cs typeface="Arial"/>
              </a:rPr>
              <a:t>Paired 95% interval</a:t>
            </a:r>
          </a:p>
          <a:p xmlns:a="http://schemas.openxmlformats.org/drawingml/2006/main">
            <a:pPr>
              <a:defRPr sz="2025" b="0">
                <a:solidFill>
                  <a:srgbClr val="A13238"/>
                </a:solidFill>
                <a:latin typeface="Arial"/>
                <a:ea typeface="Arial"/>
                <a:cs typeface="Arial"/>
              </a:defRPr>
            </a:pPr>
            <a:r>
              <a:rPr sz="2025" b="0">
                <a:solidFill>
                  <a:srgbClr val="A13238"/>
                </a:solidFill>
                <a:latin typeface="Arial"/>
                <a:ea typeface="Arial"/>
                <a:cs typeface="Arial"/>
              </a:rPr>
              <a:t>[-0.0356, 0.1047]</a:t>
            </a:r>
          </a:p>
          <a:p xmlns:a="http://schemas.openxmlformats.org/drawingml/2006/main">
            <a:pPr>
              <a:defRPr sz="2025" b="0">
                <a:solidFill>
                  <a:srgbClr val="A13238"/>
                </a:solidFill>
                <a:latin typeface="Arial"/>
                <a:ea typeface="Arial"/>
                <a:cs typeface="Arial"/>
              </a:defRPr>
            </a:pPr>
            <a:r>
              <a:rPr sz="2025" b="0">
                <a:solidFill>
                  <a:srgbClr val="A13238"/>
                </a:solidFill>
                <a:latin typeface="Arial"/>
                <a:ea typeface="Arial"/>
                <a:cs typeface="Arial"/>
              </a:rPr>
              <a:t>Crosses zero</a:t>
            </a:r>
          </a:p>
        </p:txBody>
      </p:sp>
      <p:sp>
        <p:nvSpPr>
          <p:cNvPr id="6" name="">
            <a:extLst xmlns:a="http://schemas.openxmlformats.org/drawingml/2006/main">
              <a:ext uri="{FF2B5EF4-FFF2-40B4-BE49-F238E27FC236}">
                <a16:creationId xmlns:a16="http://schemas.microsoft.com/office/drawing/2014/main" id="{1A45B832-4D63-47B1-ABC6-51F7D462DDDD}"/>
              </a:ext>
            </a:extLst>
          </p:cNvPr>
          <p:cNvSpPr>
            <a:spLocks xmlns:a="http://schemas.openxmlformats.org/drawingml/2006/main" noGrp="1"/>
          </p:cNvSpPr>
          <p:nvPr/>
        </p:nvSpPr>
        <p:spPr>
          <a:xfrm xmlns:a="http://schemas.openxmlformats.org/drawingml/2006/main">
            <a:off x="609600" y="53149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16B"/>
                </a:solidFill>
                <a:latin typeface="Arial"/>
                <a:ea typeface="Arial"/>
                <a:cs typeface="Arial"/>
              </a:defRPr>
            </a:pPr>
            <a:r>
              <a:rPr sz="1650" b="0">
                <a:solidFill>
                  <a:srgbClr val="52616B"/>
                </a:solidFill>
                <a:latin typeface="Arial"/>
                <a:ea typeface="Arial"/>
                <a:cs typeface="Arial"/>
              </a:rPr>
              <a:t>B1 chart and interval: 103 provisional test spans; original dev thresholds. Exploratory.</a:t>
            </a:r>
          </a:p>
        </p:txBody>
      </p:sp>
      <p:sp>
        <p:nvSpPr>
          <p:cNvPr id="7" name="">
            <a:extLst xmlns:a="http://schemas.openxmlformats.org/drawingml/2006/main">
              <a:ext uri="{FF2B5EF4-FFF2-40B4-BE49-F238E27FC236}">
                <a16:creationId xmlns:a16="http://schemas.microsoft.com/office/drawing/2014/main" id="{17F2092C-D86A-4F16-9020-522DF1AB890D}"/>
              </a:ext>
            </a:extLst>
          </p:cNvPr>
          <p:cNvSpPr>
            <a:spLocks xmlns:a="http://schemas.openxmlformats.org/drawingml/2006/main" noGrp="1"/>
          </p:cNvSpPr>
          <p:nvPr/>
        </p:nvSpPr>
        <p:spPr>
          <a:xfrm xmlns:a="http://schemas.openxmlformats.org/drawingml/2006/main">
            <a:off x="609600" y="5772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13238"/>
                </a:solidFill>
                <a:latin typeface="Arial"/>
                <a:ea typeface="Arial"/>
                <a:cs typeface="Arial"/>
              </a:defRPr>
            </a:pPr>
            <a:r>
              <a:rPr sz="1800" b="1">
                <a:solidFill>
                  <a:srgbClr val="A13238"/>
                </a:solidFill>
                <a:latin typeface="Arial"/>
                <a:ea typeface="Arial"/>
                <a:cs typeface="Arial"/>
              </a:rPr>
              <a:t>B2 adds 9 provisional dev atoms: entropy F1 0.752; margin unchanged.</a:t>
            </a:r>
          </a:p>
        </p:txBody>
      </p:sp>
      <p:sp>
        <p:nvSpPr>
          <p:cNvPr id="8" name="">
            <a:extLst xmlns:a="http://schemas.openxmlformats.org/drawingml/2006/main">
              <a:ext uri="{FF2B5EF4-FFF2-40B4-BE49-F238E27FC236}">
                <a16:creationId xmlns:a16="http://schemas.microsoft.com/office/drawing/2014/main" id="{8CF64F8C-5BDE-4395-B05A-6DB1D902DF4D}"/>
              </a:ext>
            </a:extLst>
          </p:cNvPr>
          <p:cNvSpPr>
            <a:spLocks xmlns:a="http://schemas.openxmlformats.org/drawingml/2006/main" noGrp="1"/>
          </p:cNvSpPr>
          <p:nvPr/>
        </p:nvSpPr>
        <p:spPr>
          <a:xfrm xmlns:a="http://schemas.openxmlformats.org/drawingml/2006/main">
            <a:off x="609600" y="61722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6B"/>
                </a:solidFill>
                <a:latin typeface="Arial"/>
                <a:ea typeface="Arial"/>
                <a:cs typeface="Arial"/>
              </a:defRPr>
            </a:pPr>
            <a:r>
              <a:rPr sz="1425" b="0">
                <a:solidFill>
                  <a:srgbClr val="52616B"/>
                </a:solidFill>
                <a:latin typeface="Arial"/>
                <a:ea typeface="Arial"/>
                <a:cs typeface="Arial"/>
              </a:rPr>
              <a:t>Same old test, not new confirmation. B1 chart values and paired interval are not updated B2 estimates.</a:t>
            </a:r>
          </a:p>
        </p:txBody>
      </p:sp>
      <p:sp>
        <p:nvSpPr>
          <p:cNvPr id="9" name="">
            <a:extLst xmlns:a="http://schemas.openxmlformats.org/drawingml/2006/main">
              <a:ext uri="{FF2B5EF4-FFF2-40B4-BE49-F238E27FC236}">
                <a16:creationId xmlns:a16="http://schemas.microsoft.com/office/drawing/2014/main" id="{CA28884C-76DA-45E5-93BE-9382E2D03176}"/>
              </a:ext>
            </a:extLst>
          </p:cNvPr>
          <p:cNvSpPr>
            <a:spLocks xmlns:a="http://schemas.openxmlformats.org/drawingml/2006/main" noGrp="1"/>
          </p:cNvSpPr>
          <p:nvPr/>
        </p:nvSpPr>
        <p:spPr>
          <a:xfrm xmlns:a="http://schemas.openxmlformats.org/drawingml/2006/main">
            <a:off x="609600" y="652462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06 / 10  |  BizHallu  |  Exploratory study</a:t>
            </a:r>
          </a:p>
        </p:txBody>
      </p:sp>
    </p:spTree>
    <p:extLst>
      <p:ext uri="{BB962C8B-B14F-4D97-AF65-F5344CB8AC3E}">
        <p14:creationId xmlns:p14="http://schemas.microsoft.com/office/powerpoint/2010/main" val="1076616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85720D-A086-413C-A6EA-D2FAEF14D73D}"/>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Token timing and completed relationships</a:t>
            </a:r>
          </a:p>
        </p:txBody>
      </p:sp>
      <p:sp>
        <p:nvSpPr>
          <p:cNvPr id="2" name="">
            <a:extLst xmlns:a="http://schemas.openxmlformats.org/drawingml/2006/main">
              <a:ext uri="{FF2B5EF4-FFF2-40B4-BE49-F238E27FC236}">
                <a16:creationId xmlns:a16="http://schemas.microsoft.com/office/drawing/2014/main" id="{E2BBCEBD-D458-48C3-8B5F-53290467A106}"/>
              </a:ext>
            </a:extLst>
          </p:cNvPr>
          <p:cNvSpPr>
            <a:spLocks xmlns:a="http://schemas.openxmlformats.org/drawingml/2006/main" noGrp="1"/>
          </p:cNvSpPr>
          <p:nvPr/>
        </p:nvSpPr>
        <p:spPr>
          <a:xfrm xmlns:a="http://schemas.openxmlformats.org/drawingml/2006/main">
            <a:off x="609600" y="163830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The model generates the list marker before the product and amount.</a:t>
            </a:r>
          </a:p>
        </p:txBody>
      </p:sp>
      <p:sp>
        <p:nvSpPr>
          <p:cNvPr id="3" name="">
            <a:extLst xmlns:a="http://schemas.openxmlformats.org/drawingml/2006/main">
              <a:ext uri="{FF2B5EF4-FFF2-40B4-BE49-F238E27FC236}">
                <a16:creationId xmlns:a16="http://schemas.microsoft.com/office/drawing/2014/main" id="{26007211-ED71-4C6C-96CC-0B80D025A9CD}"/>
              </a:ext>
            </a:extLst>
          </p:cNvPr>
          <p:cNvSpPr>
            <a:spLocks xmlns:a="http://schemas.openxmlformats.org/drawingml/2006/main" noGrp="1"/>
          </p:cNvSpPr>
          <p:nvPr/>
        </p:nvSpPr>
        <p:spPr>
          <a:xfrm xmlns:a="http://schemas.openxmlformats.org/drawingml/2006/main">
            <a:off x="609600" y="273367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Low uncertainty on "3." does not establish confidence in the completed relationship.</a:t>
            </a:r>
          </a:p>
        </p:txBody>
      </p:sp>
      <p:sp>
        <p:nvSpPr>
          <p:cNvPr id="4" name="">
            <a:extLst xmlns:a="http://schemas.openxmlformats.org/drawingml/2006/main">
              <a:ext uri="{FF2B5EF4-FFF2-40B4-BE49-F238E27FC236}">
                <a16:creationId xmlns:a16="http://schemas.microsoft.com/office/drawing/2014/main" id="{70237E9E-421C-4E80-B663-61FFBB2FBF2B}"/>
              </a:ext>
            </a:extLst>
          </p:cNvPr>
          <p:cNvSpPr>
            <a:spLocks xmlns:a="http://schemas.openxmlformats.org/drawingml/2006/main" noGrp="1"/>
          </p:cNvSpPr>
          <p:nvPr/>
        </p:nvSpPr>
        <p:spPr>
          <a:xfrm xmlns:a="http://schemas.openxmlformats.org/drawingml/2006/main">
            <a:off x="609600" y="382905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Raw teacher-forced logits are not the sampling distribution.</a:t>
            </a:r>
          </a:p>
        </p:txBody>
      </p:sp>
      <p:sp>
        <p:nvSpPr>
          <p:cNvPr id="5" name="">
            <a:extLst xmlns:a="http://schemas.openxmlformats.org/drawingml/2006/main">
              <a:ext uri="{FF2B5EF4-FFF2-40B4-BE49-F238E27FC236}">
                <a16:creationId xmlns:a16="http://schemas.microsoft.com/office/drawing/2014/main" id="{4AE5B4EC-24D0-4128-8D19-F9CA2BACFEFE}"/>
              </a:ext>
            </a:extLst>
          </p:cNvPr>
          <p:cNvSpPr>
            <a:spLocks xmlns:a="http://schemas.openxmlformats.org/drawingml/2006/main" noGrp="1"/>
          </p:cNvSpPr>
          <p:nvPr/>
        </p:nvSpPr>
        <p:spPr>
          <a:xfrm xmlns:a="http://schemas.openxmlformats.org/drawingml/2006/main">
            <a:off x="609600" y="492442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Same-step energy gap equals token NLL; residual mass is a probability control.</a:t>
            </a:r>
          </a:p>
        </p:txBody>
      </p:sp>
      <p:sp>
        <p:nvSpPr>
          <p:cNvPr id="6" name="">
            <a:extLst xmlns:a="http://schemas.openxmlformats.org/drawingml/2006/main">
              <a:ext uri="{FF2B5EF4-FFF2-40B4-BE49-F238E27FC236}">
                <a16:creationId xmlns:a16="http://schemas.microsoft.com/office/drawing/2014/main" id="{1DE86660-2D0B-4278-A275-04E738668E22}"/>
              </a:ext>
            </a:extLst>
          </p:cNvPr>
          <p:cNvSpPr>
            <a:spLocks xmlns:a="http://schemas.openxmlformats.org/drawingml/2006/main" noGrp="1"/>
          </p:cNvSpPr>
          <p:nvPr/>
        </p:nvSpPr>
        <p:spPr>
          <a:xfrm xmlns:a="http://schemas.openxmlformats.org/drawingml/2006/main">
            <a:off x="609600" y="652462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07 / 10  |  BizHallu  |  Exploratory study</a:t>
            </a:r>
          </a:p>
        </p:txBody>
      </p:sp>
    </p:spTree>
    <p:extLst>
      <p:ext uri="{BB962C8B-B14F-4D97-AF65-F5344CB8AC3E}">
        <p14:creationId xmlns:p14="http://schemas.microsoft.com/office/powerpoint/2010/main" val="977855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6578C9-B12B-438E-B65D-466DC1EE1CC2}"/>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Scope of the evidence</a:t>
            </a:r>
          </a:p>
        </p:txBody>
      </p:sp>
      <p:sp>
        <p:nvSpPr>
          <p:cNvPr id="2" name="">
            <a:extLst xmlns:a="http://schemas.openxmlformats.org/drawingml/2006/main">
              <a:ext uri="{FF2B5EF4-FFF2-40B4-BE49-F238E27FC236}">
                <a16:creationId xmlns:a16="http://schemas.microsoft.com/office/drawing/2014/main" id="{D132306C-67EB-48CE-BC46-AE83E241BAA2}"/>
              </a:ext>
            </a:extLst>
          </p:cNvPr>
          <p:cNvSpPr>
            <a:spLocks xmlns:a="http://schemas.openxmlformats.org/drawingml/2006/main" noGrp="1"/>
          </p:cNvSpPr>
          <p:nvPr/>
        </p:nvSpPr>
        <p:spPr>
          <a:xfrm xmlns:a="http://schemas.openxmlformats.org/drawingml/2006/main">
            <a:off x="609600" y="163830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Provisional labels; no independent human agreement</a:t>
            </a:r>
          </a:p>
        </p:txBody>
      </p:sp>
      <p:sp>
        <p:nvSpPr>
          <p:cNvPr id="3" name="">
            <a:extLst xmlns:a="http://schemas.openxmlformats.org/drawingml/2006/main">
              <a:ext uri="{FF2B5EF4-FFF2-40B4-BE49-F238E27FC236}">
                <a16:creationId xmlns:a16="http://schemas.microsoft.com/office/drawing/2014/main" id="{728F8A96-E2E7-4892-8EE8-B01D200AA464}"/>
              </a:ext>
            </a:extLst>
          </p:cNvPr>
          <p:cNvSpPr>
            <a:spLocks xmlns:a="http://schemas.openxmlformats.org/drawingml/2006/main" noGrp="1"/>
          </p:cNvSpPr>
          <p:nvPr/>
        </p:nvSpPr>
        <p:spPr>
          <a:xfrm xmlns:a="http://schemas.openxmlformats.org/drawingml/2006/main">
            <a:off x="609600" y="297180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Outcome-informed annotation queue; shared business periods and evidence</a:t>
            </a:r>
          </a:p>
        </p:txBody>
      </p:sp>
      <p:sp>
        <p:nvSpPr>
          <p:cNvPr id="4" name="">
            <a:extLst xmlns:a="http://schemas.openxmlformats.org/drawingml/2006/main">
              <a:ext uri="{FF2B5EF4-FFF2-40B4-BE49-F238E27FC236}">
                <a16:creationId xmlns:a16="http://schemas.microsoft.com/office/drawing/2014/main" id="{26193D91-E0E7-4853-B926-0CFB0659A7CE}"/>
              </a:ext>
            </a:extLst>
          </p:cNvPr>
          <p:cNvSpPr>
            <a:spLocks xmlns:a="http://schemas.openxmlformats.org/drawingml/2006/main" noGrp="1"/>
          </p:cNvSpPr>
          <p:nvPr/>
        </p:nvSpPr>
        <p:spPr>
          <a:xfrm xmlns:a="http://schemas.openxmlformats.org/drawingml/2006/main">
            <a:off x="609600" y="430530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One small model; pre-identified fact spans; no production performance estimate</a:t>
            </a:r>
          </a:p>
        </p:txBody>
      </p:sp>
      <p:sp>
        <p:nvSpPr>
          <p:cNvPr id="5" name="">
            <a:extLst xmlns:a="http://schemas.openxmlformats.org/drawingml/2006/main">
              <a:ext uri="{FF2B5EF4-FFF2-40B4-BE49-F238E27FC236}">
                <a16:creationId xmlns:a16="http://schemas.microsoft.com/office/drawing/2014/main" id="{8BBC7ED7-ED15-46F1-8AA9-3BF3B85823E5}"/>
              </a:ext>
            </a:extLst>
          </p:cNvPr>
          <p:cNvSpPr>
            <a:spLocks xmlns:a="http://schemas.openxmlformats.org/drawingml/2006/main" noGrp="1"/>
          </p:cNvSpPr>
          <p:nvPr/>
        </p:nvSpPr>
        <p:spPr>
          <a:xfrm xmlns:a="http://schemas.openxmlformats.org/drawingml/2006/main">
            <a:off x="609600" y="652462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08 / 10  |  BizHallu  |  Exploratory study</a:t>
            </a:r>
          </a:p>
        </p:txBody>
      </p:sp>
    </p:spTree>
    <p:extLst>
      <p:ext uri="{BB962C8B-B14F-4D97-AF65-F5344CB8AC3E}">
        <p14:creationId xmlns:p14="http://schemas.microsoft.com/office/powerpoint/2010/main" val="21474172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4DE927-7815-4AC8-B840-19FAA5CA628C}"/>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Analyst contribution and business use</a:t>
            </a:r>
          </a:p>
        </p:txBody>
      </p:sp>
      <p:sp>
        <p:nvSpPr>
          <p:cNvPr id="2" name="">
            <a:extLst xmlns:a="http://schemas.openxmlformats.org/drawingml/2006/main">
              <a:ext uri="{FF2B5EF4-FFF2-40B4-BE49-F238E27FC236}">
                <a16:creationId xmlns:a16="http://schemas.microsoft.com/office/drawing/2014/main" id="{A7511D8D-AE60-4BC3-9C3E-E297161F09A1}"/>
              </a:ext>
            </a:extLst>
          </p:cNvPr>
          <p:cNvSpPr>
            <a:spLocks xmlns:a="http://schemas.openxmlformats.org/drawingml/2006/main" noGrp="1"/>
          </p:cNvSpPr>
          <p:nvPr/>
        </p:nvSpPr>
        <p:spPr>
          <a:xfrm xmlns:a="http://schemas.openxmlformats.org/drawingml/2006/main">
            <a:off x="609600" y="163830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Project direction with AI-assisted coding and review</a:t>
            </a:r>
          </a:p>
        </p:txBody>
      </p:sp>
      <p:sp>
        <p:nvSpPr>
          <p:cNvPr id="3" name="">
            <a:extLst xmlns:a="http://schemas.openxmlformats.org/drawingml/2006/main">
              <a:ext uri="{FF2B5EF4-FFF2-40B4-BE49-F238E27FC236}">
                <a16:creationId xmlns:a16="http://schemas.microsoft.com/office/drawing/2014/main" id="{EFDEA68A-F5A4-471E-A81A-30182BB155D5}"/>
              </a:ext>
            </a:extLst>
          </p:cNvPr>
          <p:cNvSpPr>
            <a:spLocks xmlns:a="http://schemas.openxmlformats.org/drawingml/2006/main" noGrp="1"/>
          </p:cNvSpPr>
          <p:nvPr/>
        </p:nvSpPr>
        <p:spPr>
          <a:xfrm xmlns:a="http://schemas.openxmlformats.org/drawingml/2006/main">
            <a:off x="609600" y="273367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Auditable metric definitions, traceable evidence and reproducible calculations</a:t>
            </a:r>
          </a:p>
        </p:txBody>
      </p:sp>
      <p:sp>
        <p:nvSpPr>
          <p:cNvPr id="4" name="">
            <a:extLst xmlns:a="http://schemas.openxmlformats.org/drawingml/2006/main">
              <a:ext uri="{FF2B5EF4-FFF2-40B4-BE49-F238E27FC236}">
                <a16:creationId xmlns:a16="http://schemas.microsoft.com/office/drawing/2014/main" id="{66C3D867-072C-4E11-B60E-A9613C8D03F6}"/>
              </a:ext>
            </a:extLst>
          </p:cNvPr>
          <p:cNvSpPr>
            <a:spLocks xmlns:a="http://schemas.openxmlformats.org/drawingml/2006/main" noGrp="1"/>
          </p:cNvSpPr>
          <p:nvPr/>
        </p:nvSpPr>
        <p:spPr>
          <a:xfrm xmlns:a="http://schemas.openxmlformats.org/drawingml/2006/main">
            <a:off x="609600" y="382905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Potential use: review AI-generated reporting before a business decision</a:t>
            </a:r>
          </a:p>
        </p:txBody>
      </p:sp>
      <p:sp>
        <p:nvSpPr>
          <p:cNvPr id="5" name="">
            <a:extLst xmlns:a="http://schemas.openxmlformats.org/drawingml/2006/main">
              <a:ext uri="{FF2B5EF4-FFF2-40B4-BE49-F238E27FC236}">
                <a16:creationId xmlns:a16="http://schemas.microsoft.com/office/drawing/2014/main" id="{4E63CBDD-2140-4F4A-9FE0-2408FD7150BD}"/>
              </a:ext>
            </a:extLst>
          </p:cNvPr>
          <p:cNvSpPr>
            <a:spLocks xmlns:a="http://schemas.openxmlformats.org/drawingml/2006/main" noGrp="1"/>
          </p:cNvSpPr>
          <p:nvPr/>
        </p:nvSpPr>
        <p:spPr>
          <a:xfrm xmlns:a="http://schemas.openxmlformats.org/drawingml/2006/main">
            <a:off x="609600" y="492442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No measured cost saving, deployed control or verified independent mastery</a:t>
            </a:r>
          </a:p>
        </p:txBody>
      </p:sp>
      <p:sp>
        <p:nvSpPr>
          <p:cNvPr id="6" name="">
            <a:extLst xmlns:a="http://schemas.openxmlformats.org/drawingml/2006/main">
              <a:ext uri="{FF2B5EF4-FFF2-40B4-BE49-F238E27FC236}">
                <a16:creationId xmlns:a16="http://schemas.microsoft.com/office/drawing/2014/main" id="{EF8529AC-B863-4E6D-8DDE-44A5930CBEE5}"/>
              </a:ext>
            </a:extLst>
          </p:cNvPr>
          <p:cNvSpPr>
            <a:spLocks xmlns:a="http://schemas.openxmlformats.org/drawingml/2006/main" noGrp="1"/>
          </p:cNvSpPr>
          <p:nvPr/>
        </p:nvSpPr>
        <p:spPr>
          <a:xfrm xmlns:a="http://schemas.openxmlformats.org/drawingml/2006/main">
            <a:off x="609600" y="652462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09 / 10  |  BizHallu  |  Exploratory study</a:t>
            </a:r>
          </a:p>
        </p:txBody>
      </p:sp>
    </p:spTree>
    <p:extLst>
      <p:ext uri="{BB962C8B-B14F-4D97-AF65-F5344CB8AC3E}">
        <p14:creationId xmlns:p14="http://schemas.microsoft.com/office/powerpoint/2010/main" val="5928045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07F6E8-B69A-432C-8400-E069FC124685}"/>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Research questions and next steps</a:t>
            </a:r>
          </a:p>
        </p:txBody>
      </p:sp>
      <p:sp>
        <p:nvSpPr>
          <p:cNvPr id="2" name="">
            <a:extLst xmlns:a="http://schemas.openxmlformats.org/drawingml/2006/main">
              <a:ext uri="{FF2B5EF4-FFF2-40B4-BE49-F238E27FC236}">
                <a16:creationId xmlns:a16="http://schemas.microsoft.com/office/drawing/2014/main" id="{8280600C-8839-4B3E-8965-60A78EBFC734}"/>
              </a:ext>
            </a:extLst>
          </p:cNvPr>
          <p:cNvSpPr>
            <a:spLocks xmlns:a="http://schemas.openxmlformats.org/drawingml/2006/main" noGrp="1"/>
          </p:cNvSpPr>
          <p:nvPr/>
        </p:nvSpPr>
        <p:spPr>
          <a:xfrm xmlns:a="http://schemas.openxmlformats.org/drawingml/2006/main">
            <a:off x="609600" y="163830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Calibrate relation labels and independent review</a:t>
            </a:r>
          </a:p>
        </p:txBody>
      </p:sp>
      <p:sp>
        <p:nvSpPr>
          <p:cNvPr id="3" name="">
            <a:extLst xmlns:a="http://schemas.openxmlformats.org/drawingml/2006/main">
              <a:ext uri="{FF2B5EF4-FFF2-40B4-BE49-F238E27FC236}">
                <a16:creationId xmlns:a16="http://schemas.microsoft.com/office/drawing/2014/main" id="{4A1B0C16-9538-4D0A-82BB-32649CA387A5}"/>
              </a:ext>
            </a:extLst>
          </p:cNvPr>
          <p:cNvSpPr>
            <a:spLocks xmlns:a="http://schemas.openxmlformats.org/drawingml/2006/main" noGrp="1"/>
          </p:cNvSpPr>
          <p:nvPr/>
        </p:nvSpPr>
        <p:spPr>
          <a:xfrm xmlns:a="http://schemas.openxmlformats.org/drawingml/2006/main">
            <a:off x="609600" y="273367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Build a top3 verifier without gold, labels or detector outcomes as prediction inputs</a:t>
            </a:r>
          </a:p>
        </p:txBody>
      </p:sp>
      <p:sp>
        <p:nvSpPr>
          <p:cNvPr id="4" name="">
            <a:extLst xmlns:a="http://schemas.openxmlformats.org/drawingml/2006/main">
              <a:ext uri="{FF2B5EF4-FFF2-40B4-BE49-F238E27FC236}">
                <a16:creationId xmlns:a16="http://schemas.microsoft.com/office/drawing/2014/main" id="{16041C73-D893-458F-B753-2DFC584DAC9C}"/>
              </a:ext>
            </a:extLst>
          </p:cNvPr>
          <p:cNvSpPr>
            <a:spLocks xmlns:a="http://schemas.openxmlformats.org/drawingml/2006/main" noGrp="1"/>
          </p:cNvSpPr>
          <p:nvPr/>
        </p:nvSpPr>
        <p:spPr>
          <a:xfrm xmlns:a="http://schemas.openxmlformats.org/drawingml/2006/main">
            <a:off x="609600" y="382905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Compare information budgets, coverage and costs before expanding methods</a:t>
            </a:r>
          </a:p>
        </p:txBody>
      </p:sp>
      <p:sp>
        <p:nvSpPr>
          <p:cNvPr id="5" name="">
            <a:extLst xmlns:a="http://schemas.openxmlformats.org/drawingml/2006/main">
              <a:ext uri="{FF2B5EF4-FFF2-40B4-BE49-F238E27FC236}">
                <a16:creationId xmlns:a16="http://schemas.microsoft.com/office/drawing/2014/main" id="{3A91D5F4-A149-4186-8C5B-0182E26FE7A1}"/>
              </a:ext>
            </a:extLst>
          </p:cNvPr>
          <p:cNvSpPr>
            <a:spLocks xmlns:a="http://schemas.openxmlformats.org/drawingml/2006/main" noGrp="1"/>
          </p:cNvSpPr>
          <p:nvPr/>
        </p:nvSpPr>
        <p:spPr>
          <a:xfrm xmlns:a="http://schemas.openxmlformats.org/drawingml/2006/main">
            <a:off x="609600" y="492442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Feedback request: annotation unit and comparison design</a:t>
            </a:r>
          </a:p>
        </p:txBody>
      </p:sp>
      <p:sp>
        <p:nvSpPr>
          <p:cNvPr id="6" name="">
            <a:extLst xmlns:a="http://schemas.openxmlformats.org/drawingml/2006/main">
              <a:ext uri="{FF2B5EF4-FFF2-40B4-BE49-F238E27FC236}">
                <a16:creationId xmlns:a16="http://schemas.microsoft.com/office/drawing/2014/main" id="{E024F14D-B804-4C44-85C0-8C3829DF8D7A}"/>
              </a:ext>
            </a:extLst>
          </p:cNvPr>
          <p:cNvSpPr>
            <a:spLocks xmlns:a="http://schemas.openxmlformats.org/drawingml/2006/main" noGrp="1"/>
          </p:cNvSpPr>
          <p:nvPr/>
        </p:nvSpPr>
        <p:spPr>
          <a:xfrm xmlns:a="http://schemas.openxmlformats.org/drawingml/2006/main">
            <a:off x="609600" y="652462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10 / 10  |  BizHallu  |  Exploratory study</a:t>
            </a:r>
          </a:p>
        </p:txBody>
      </p:sp>
    </p:spTree>
    <p:extLst>
      <p:ext uri="{BB962C8B-B14F-4D97-AF65-F5344CB8AC3E}">
        <p14:creationId xmlns:p14="http://schemas.microsoft.com/office/powerpoint/2010/main" val="8017428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2026-09-05T20:52:59.7560000Z</dcterms:created>
  <dcterms:modified xsi:type="dcterms:W3CDTF">2026-09-05T20:52:59.7560000Z</dcterms:modified>
</coreProperties>
</file>